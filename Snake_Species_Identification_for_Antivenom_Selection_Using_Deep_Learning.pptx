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6" r:id="rId3"/>
    <p:sldId id="258" r:id="rId4"/>
    <p:sldId id="278" r:id="rId5"/>
    <p:sldId id="277" r:id="rId6"/>
    <p:sldId id="260" r:id="rId7"/>
    <p:sldId id="284" r:id="rId8"/>
    <p:sldId id="285" r:id="rId9"/>
    <p:sldId id="301" r:id="rId10"/>
    <p:sldId id="286" r:id="rId11"/>
    <p:sldId id="302" r:id="rId12"/>
    <p:sldId id="303" r:id="rId13"/>
    <p:sldId id="300" r:id="rId14"/>
    <p:sldId id="289" r:id="rId15"/>
    <p:sldId id="265" r:id="rId16"/>
    <p:sldId id="266" r:id="rId17"/>
    <p:sldId id="267" r:id="rId18"/>
    <p:sldId id="299" r:id="rId19"/>
    <p:sldId id="298" r:id="rId20"/>
    <p:sldId id="305" r:id="rId21"/>
    <p:sldId id="270" r:id="rId22"/>
  </p:sldIdLst>
  <p:sldSz cx="162575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2"/>
    <p:restoredTop sz="94589"/>
  </p:normalViewPr>
  <p:slideViewPr>
    <p:cSldViewPr snapToGrid="0" snapToObjects="1">
      <p:cViewPr varScale="1">
        <p:scale>
          <a:sx n="77" d="100"/>
          <a:sy n="77" d="100"/>
        </p:scale>
        <p:origin x="192" y="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27B4D"/>
              </a:solidFill>
            </c:spPr>
            <c:extLst>
              <c:ext xmlns:c16="http://schemas.microsoft.com/office/drawing/2014/chart" uri="{C3380CC4-5D6E-409C-BE32-E72D297353CC}">
                <c16:uniqueId val="{00000001-9E49-2746-BBC6-3C87722BCE70}"/>
              </c:ext>
            </c:extLst>
          </c:dPt>
          <c:dPt>
            <c:idx val="1"/>
            <c:invertIfNegative val="1"/>
            <c:bubble3D val="0"/>
            <c:spPr>
              <a:solidFill>
                <a:srgbClr val="2E84A6"/>
              </a:solidFill>
            </c:spPr>
            <c:extLst>
              <c:ext xmlns:c16="http://schemas.microsoft.com/office/drawing/2014/chart" uri="{C3380CC4-5D6E-409C-BE32-E72D297353CC}">
                <c16:uniqueId val="{00000003-9E49-2746-BBC6-3C87722BCE70}"/>
              </c:ext>
            </c:extLst>
          </c:dPt>
          <c:dPt>
            <c:idx val="2"/>
            <c:invertIfNegative val="1"/>
            <c:bubble3D val="0"/>
            <c:spPr>
              <a:solidFill>
                <a:srgbClr val="17A78C"/>
              </a:solidFill>
            </c:spPr>
            <c:extLst>
              <c:ext xmlns:c16="http://schemas.microsoft.com/office/drawing/2014/chart" uri="{C3380CC4-5D6E-409C-BE32-E72D297353CC}">
                <c16:uniqueId val="{00000005-9E49-2746-BBC6-3C87722BCE7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
(Baseline)</c:v>
                </c:pt>
                <c:pt idx="1">
                  <c:v>CNN
(From Scratch)</c:v>
                </c:pt>
                <c:pt idx="2">
                  <c:v>Transfer Learning
(MobileNetV2)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</c:v>
                </c:pt>
                <c:pt idx="1">
                  <c:v>46.8</c:v>
                </c:pt>
                <c:pt idx="2">
                  <c:v>71.099999999999994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49-2746-BBC6-3C87722BCE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>
          <c:spPr>
            <a:ln w="6350">
              <a:solidFill>
                <a:srgbClr val="2A344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A9B4C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84A6"/>
              </a:solidFill>
            </c:spPr>
            <c:extLst>
              <c:ext xmlns:c16="http://schemas.microsoft.com/office/drawing/2014/chart" uri="{C3380CC4-5D6E-409C-BE32-E72D297353CC}">
                <c16:uniqueId val="{00000001-F4C8-374F-9E8B-E23E4A8E4817}"/>
              </c:ext>
            </c:extLst>
          </c:dPt>
          <c:dPt>
            <c:idx val="1"/>
            <c:invertIfNegative val="1"/>
            <c:bubble3D val="0"/>
            <c:spPr>
              <a:solidFill>
                <a:srgbClr val="2E84A6"/>
              </a:solidFill>
            </c:spPr>
            <c:extLst>
              <c:ext xmlns:c16="http://schemas.microsoft.com/office/drawing/2014/chart" uri="{C3380CC4-5D6E-409C-BE32-E72D297353CC}">
                <c16:uniqueId val="{00000003-F4C8-374F-9E8B-E23E4A8E4817}"/>
              </c:ext>
            </c:extLst>
          </c:dPt>
          <c:dPt>
            <c:idx val="2"/>
            <c:invertIfNegative val="1"/>
            <c:bubble3D val="0"/>
            <c:spPr>
              <a:solidFill>
                <a:srgbClr val="F27B4D"/>
              </a:solidFill>
            </c:spPr>
            <c:extLst>
              <c:ext xmlns:c16="http://schemas.microsoft.com/office/drawing/2014/chart" uri="{C3380CC4-5D6E-409C-BE32-E72D297353CC}">
                <c16:uniqueId val="{00000005-F4C8-374F-9E8B-E23E4A8E4817}"/>
              </c:ext>
            </c:extLst>
          </c:dPt>
          <c:dPt>
            <c:idx val="3"/>
            <c:invertIfNegative val="1"/>
            <c:bubble3D val="0"/>
            <c:spPr>
              <a:solidFill>
                <a:srgbClr val="2E84A6"/>
              </a:solidFill>
            </c:spPr>
            <c:extLst>
              <c:ext xmlns:c16="http://schemas.microsoft.com/office/drawing/2014/chart" uri="{C3380CC4-5D6E-409C-BE32-E72D297353CC}">
                <c16:uniqueId val="{00000007-F4C8-374F-9E8B-E23E4A8E4817}"/>
              </c:ext>
            </c:extLst>
          </c:dPt>
          <c:dPt>
            <c:idx val="4"/>
            <c:invertIfNegative val="1"/>
            <c:bubble3D val="0"/>
            <c:spPr>
              <a:solidFill>
                <a:srgbClr val="2E84A6"/>
              </a:solidFill>
            </c:spPr>
            <c:extLst>
              <c:ext xmlns:c16="http://schemas.microsoft.com/office/drawing/2014/chart" uri="{C3380CC4-5D6E-409C-BE32-E72D297353CC}">
                <c16:uniqueId val="{00000009-F4C8-374F-9E8B-E23E4A8E4817}"/>
              </c:ext>
            </c:extLst>
          </c:dPt>
          <c:dPt>
            <c:idx val="5"/>
            <c:invertIfNegative val="1"/>
            <c:bubble3D val="0"/>
            <c:spPr>
              <a:solidFill>
                <a:srgbClr val="F27B4D"/>
              </a:solidFill>
            </c:spPr>
            <c:extLst>
              <c:ext xmlns:c16="http://schemas.microsoft.com/office/drawing/2014/chart" uri="{C3380CC4-5D6E-409C-BE32-E72D297353CC}">
                <c16:uniqueId val="{0000000B-F4C8-374F-9E8B-E23E4A8E4817}"/>
              </c:ext>
            </c:extLst>
          </c:dPt>
          <c:dPt>
            <c:idx val="6"/>
            <c:invertIfNegative val="1"/>
            <c:bubble3D val="0"/>
            <c:spPr>
              <a:solidFill>
                <a:srgbClr val="F27B4D"/>
              </a:solidFill>
            </c:spPr>
            <c:extLst>
              <c:ext xmlns:c16="http://schemas.microsoft.com/office/drawing/2014/chart" uri="{C3380CC4-5D6E-409C-BE32-E72D297353CC}">
                <c16:uniqueId val="{0000000D-F4C8-374F-9E8B-E23E4A8E4817}"/>
              </c:ext>
            </c:extLst>
          </c:dPt>
          <c:dPt>
            <c:idx val="7"/>
            <c:invertIfNegative val="1"/>
            <c:bubble3D val="0"/>
            <c:spPr>
              <a:solidFill>
                <a:srgbClr val="F27B4D"/>
              </a:solidFill>
            </c:spPr>
            <c:extLst>
              <c:ext xmlns:c16="http://schemas.microsoft.com/office/drawing/2014/chart" uri="{C3380CC4-5D6E-409C-BE32-E72D297353CC}">
                <c16:uniqueId val="{0000000F-F4C8-374F-9E8B-E23E4A8E4817}"/>
              </c:ext>
            </c:extLst>
          </c:dPt>
          <c:dPt>
            <c:idx val="8"/>
            <c:invertIfNegative val="1"/>
            <c:bubble3D val="0"/>
            <c:spPr>
              <a:solidFill>
                <a:srgbClr val="2E84A6"/>
              </a:solidFill>
            </c:spPr>
            <c:extLst>
              <c:ext xmlns:c16="http://schemas.microsoft.com/office/drawing/2014/chart" uri="{C3380CC4-5D6E-409C-BE32-E72D297353CC}">
                <c16:uniqueId val="{00000011-F4C8-374F-9E8B-E23E4A8E4817}"/>
              </c:ext>
            </c:extLst>
          </c:dPt>
          <c:dPt>
            <c:idx val="9"/>
            <c:invertIfNegative val="1"/>
            <c:bubble3D val="0"/>
            <c:spPr>
              <a:solidFill>
                <a:srgbClr val="F27B4D"/>
              </a:solidFill>
            </c:spPr>
            <c:extLst>
              <c:ext xmlns:c16="http://schemas.microsoft.com/office/drawing/2014/chart" uri="{C3380CC4-5D6E-409C-BE32-E72D297353CC}">
                <c16:uniqueId val="{00000013-F4C8-374F-9E8B-E23E4A8E4817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Ahaetulla prasina</c:v>
                </c:pt>
                <c:pt idx="1">
                  <c:v>Imantodes cenchoa</c:v>
                </c:pt>
                <c:pt idx="2">
                  <c:v>Agkistrodon piscivorus</c:v>
                </c:pt>
                <c:pt idx="3">
                  <c:v>Boiga kraepelini</c:v>
                </c:pt>
                <c:pt idx="4">
                  <c:v>Ahaetulla nasuta</c:v>
                </c:pt>
                <c:pt idx="5">
                  <c:v>Bothrops asper</c:v>
                </c:pt>
                <c:pt idx="6">
                  <c:v>Austrelaps superbus</c:v>
                </c:pt>
                <c:pt idx="7">
                  <c:v>Bothriechis schlegelii</c:v>
                </c:pt>
                <c:pt idx="8">
                  <c:v>Carphophis vermis</c:v>
                </c:pt>
                <c:pt idx="9">
                  <c:v>Crotalus tigris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47</c:v>
                </c:pt>
                <c:pt idx="1">
                  <c:v>55</c:v>
                </c:pt>
                <c:pt idx="2">
                  <c:v>57</c:v>
                </c:pt>
                <c:pt idx="3">
                  <c:v>70</c:v>
                </c:pt>
                <c:pt idx="4">
                  <c:v>65</c:v>
                </c:pt>
                <c:pt idx="5">
                  <c:v>63</c:v>
                </c:pt>
                <c:pt idx="6">
                  <c:v>88</c:v>
                </c:pt>
                <c:pt idx="7">
                  <c:v>71</c:v>
                </c:pt>
                <c:pt idx="8">
                  <c:v>97</c:v>
                </c:pt>
                <c:pt idx="9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4C8-374F-9E8B-E23E4A8E48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>
          <c:spPr>
            <a:ln w="6350">
              <a:solidFill>
                <a:srgbClr val="2A344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A9B4C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shubham1697/snake-species-antivenom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143000"/>
            <a:ext cx="100584" cy="5577840"/>
          </a:xfrm>
          <a:prstGeom prst="rect">
            <a:avLst/>
          </a:prstGeom>
          <a:solidFill>
            <a:srgbClr val="5B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12344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AI-Powered Snake</a:t>
            </a:r>
          </a:p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Species Identification</a:t>
            </a:r>
          </a:p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for Antivenom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212080"/>
            <a:ext cx="11887200" cy="1371600"/>
          </a:xfrm>
          <a:prstGeom prst="roundRect">
            <a:avLst>
              <a:gd name="adj" fmla="val 10000"/>
            </a:avLst>
          </a:prstGeom>
          <a:solidFill>
            <a:srgbClr val="16202E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37360" y="5440680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A9B4C2"/>
                </a:solidFill>
                <a:latin typeface="Arial"/>
              </a:rPr>
              <a:t>Engineering a deep learning pipeline to</a:t>
            </a: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A9B4C2"/>
                </a:solidFill>
                <a:latin typeface="Arial"/>
              </a:rPr>
              <a:t>solve the 60-minute survival window.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8640E-F0B6-E147-B896-CA0BB0CE3456}"/>
              </a:ext>
            </a:extLst>
          </p:cNvPr>
          <p:cNvSpPr txBox="1"/>
          <p:nvPr/>
        </p:nvSpPr>
        <p:spPr>
          <a:xfrm>
            <a:off x="13656039" y="7352762"/>
            <a:ext cx="1478289" cy="292388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r"/>
            <a:r>
              <a:rPr lang="en-US" sz="1300" b="1" dirty="0">
                <a:solidFill>
                  <a:srgbClr val="F27B4D"/>
                </a:solidFill>
                <a:latin typeface="Arial"/>
                <a:cs typeface="Arial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DAF33-96F1-FD4D-AD34-4D257F0AFC89}"/>
              </a:ext>
            </a:extLst>
          </p:cNvPr>
          <p:cNvSpPr txBox="1"/>
          <p:nvPr/>
        </p:nvSpPr>
        <p:spPr>
          <a:xfrm>
            <a:off x="12549967" y="7680960"/>
            <a:ext cx="2584361" cy="43088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r"/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Shubham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The Critical Bottleneck in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Emergency Healthcare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31720"/>
            <a:ext cx="7040880" cy="6126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94192" y="2331720"/>
            <a:ext cx="7040880" cy="6126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697479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A9B4C2"/>
                </a:solidFill>
                <a:latin typeface="Arial"/>
              </a:rPr>
              <a:t>The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69079"/>
            <a:ext cx="6492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0" b="1" i="0">
                <a:solidFill>
                  <a:srgbClr val="F27B4D"/>
                </a:solidFill>
                <a:latin typeface="Arial"/>
              </a:rPr>
              <a:t>58,000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97879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A9B4C2"/>
                </a:solidFill>
                <a:latin typeface="Arial"/>
              </a:rPr>
              <a:t>Deaths Per Year in India alone.</a:t>
            </a:r>
          </a:p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Snakebites claim more lives in this region</a:t>
            </a:r>
          </a:p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than any other natural emergency.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2697479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A9B4C2"/>
                </a:solidFill>
                <a:latin typeface="Arial"/>
              </a:rPr>
              <a:t>The Time Constraint</a:t>
            </a:r>
          </a:p>
        </p:txBody>
      </p:sp>
      <p:sp>
        <p:nvSpPr>
          <p:cNvPr id="9" name="Oval 8"/>
          <p:cNvSpPr/>
          <p:nvPr/>
        </p:nvSpPr>
        <p:spPr>
          <a:xfrm>
            <a:off x="10698480" y="3429000"/>
            <a:ext cx="2286000" cy="2286000"/>
          </a:xfrm>
          <a:prstGeom prst="ellipse">
            <a:avLst/>
          </a:prstGeom>
          <a:noFill/>
          <a:ln w="50800">
            <a:solidFill>
              <a:srgbClr val="5B8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e 9"/>
          <p:cNvSpPr/>
          <p:nvPr/>
        </p:nvSpPr>
        <p:spPr>
          <a:xfrm>
            <a:off x="10835640" y="3566160"/>
            <a:ext cx="2011680" cy="2011680"/>
          </a:xfrm>
          <a:prstGeom prst="pie">
            <a:avLst>
              <a:gd name="adj1" fmla="val -9000000"/>
              <a:gd name="adj2" fmla="val 6000000"/>
            </a:avLst>
          </a:prstGeom>
          <a:solidFill>
            <a:srgbClr val="F2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0" y="4297679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FFFFFF"/>
                </a:solidFill>
                <a:latin typeface="Arial"/>
              </a:rPr>
              <a:t>60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598932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The 'Golden Hour' Criterion: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6537959"/>
            <a:ext cx="5943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Antivenom selection within one hour dramatically</a:t>
            </a:r>
          </a:p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improves survival rates. Manual species</a:t>
            </a:r>
          </a:p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identification by remote healthcare workers is</a:t>
            </a:r>
          </a:p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currently unreliable and far too slow.</a:t>
            </a:r>
          </a:p>
        </p:txBody>
      </p:sp>
    </p:spTree>
    <p:extLst>
      <p:ext uri="{BB962C8B-B14F-4D97-AF65-F5344CB8AC3E}">
        <p14:creationId xmlns:p14="http://schemas.microsoft.com/office/powerpoint/2010/main" val="149511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Engineering a Clinical-Grade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7187184" cy="2880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718718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5B8FC7"/>
                </a:solidFill>
                <a:latin typeface="Arial"/>
              </a:rPr>
              <a:t>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29000"/>
            <a:ext cx="6272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01. High-Precision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069080"/>
            <a:ext cx="6272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Develop deep learning models capable of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classifying snake species directly from raw,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field-captured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74736" y="2286000"/>
            <a:ext cx="7187184" cy="2880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74736" y="2651760"/>
            <a:ext cx="718718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27B4D"/>
                </a:solidFill>
                <a:latin typeface="Arial"/>
              </a:rPr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1936" y="3429000"/>
            <a:ext cx="6272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02. Maximising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1936" y="4069080"/>
            <a:ext cx="6272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Ensure zero misses for venomous species;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treating false negatives as a life-threatening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failure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94960"/>
            <a:ext cx="7187184" cy="2880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718718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5B8FC7"/>
                </a:solidFill>
                <a:latin typeface="Arial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6537960"/>
            <a:ext cx="6272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03. Model 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7178040"/>
            <a:ext cx="6272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Systematically compare baseline algorithms,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custom CNNs, and transfer learning to identify the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optimal deployment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5394960"/>
            <a:ext cx="7187184" cy="288036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5760720"/>
            <a:ext cx="718718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5B8FC7"/>
                </a:solidFill>
                <a:latin typeface="Arial"/>
              </a:rP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6537960"/>
            <a:ext cx="6272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04. Clinical 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7178040"/>
            <a:ext cx="627278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Provide visual, medical-grade validation using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Grad-CAM to prove the model's reasoning to</a:t>
            </a:r>
          </a:p>
          <a:p>
            <a:pPr algn="ctr">
              <a:lnSpc>
                <a:spcPct val="112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healthcare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Data Funnel: Distilling the Kaggle Snake</a:t>
            </a:r>
          </a:p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Species Dataset</a:t>
            </a:r>
          </a:p>
        </p:txBody>
      </p:sp>
      <p:sp>
        <p:nvSpPr>
          <p:cNvPr id="20" name="Stage Raw"/>
          <p:cNvSpPr/>
          <p:nvPr/>
        </p:nvSpPr>
        <p:spPr>
          <a:xfrm>
            <a:off x="825500" y="2921000"/>
            <a:ext cx="4305300" cy="3810000"/>
          </a:xfrm>
          <a:prstGeom prst="roundRect">
            <a:avLst>
              <a:gd name="adj" fmla="val 8000"/>
            </a:avLst>
          </a:prstGeom>
          <a:solidFill>
            <a:srgbClr val="202B3A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spc="200" dirty="0">
                <a:solidFill>
                  <a:srgbClr val="F27B4D"/>
                </a:solidFill>
                <a:latin typeface="Arial"/>
              </a:rPr>
              <a:t>RAW DATASET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23,816</a:t>
            </a:r>
          </a:p>
          <a:p>
            <a:pPr algn="ctr">
              <a:spcBef>
                <a:spcPts val="1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training images</a:t>
            </a:r>
          </a:p>
          <a:p>
            <a:pPr algn="ctr">
              <a:spcBef>
                <a:spcPts val="7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135 species · 6 families</a:t>
            </a:r>
          </a:p>
          <a:p>
            <a:pPr algn="ctr">
              <a:spcBef>
                <a:spcPts val="150"/>
              </a:spcBef>
            </a:pPr>
            <a:r>
              <a:rPr lang="en-US" sz="1400" b="0" dirty="0">
                <a:solidFill>
                  <a:srgbClr val="8A97A8"/>
                </a:solidFill>
                <a:latin typeface="Arial"/>
              </a:rPr>
              <a:t>36.5% venomous · 63.5% non</a:t>
            </a:r>
          </a:p>
          <a:p>
            <a:pPr algn="ctr">
              <a:spcBef>
                <a:spcPts val="150"/>
              </a:spcBef>
            </a:pPr>
            <a:r>
              <a:rPr lang="en-US" sz="1400" b="0" dirty="0">
                <a:solidFill>
                  <a:srgbClr val="8A97A8"/>
                </a:solidFill>
                <a:latin typeface="Arial"/>
              </a:rPr>
              <a:t>512 × 512 px originals</a:t>
            </a:r>
          </a:p>
        </p:txBody>
      </p:sp>
      <p:sp>
        <p:nvSpPr>
          <p:cNvPr id="21" name="Stage Filter"/>
          <p:cNvSpPr/>
          <p:nvPr/>
        </p:nvSpPr>
        <p:spPr>
          <a:xfrm>
            <a:off x="5969000" y="2921000"/>
            <a:ext cx="4305300" cy="3810000"/>
          </a:xfrm>
          <a:prstGeom prst="roundRect">
            <a:avLst>
              <a:gd name="adj" fmla="val 8000"/>
            </a:avLst>
          </a:prstGeom>
          <a:solidFill>
            <a:srgbClr val="283546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spc="200" dirty="0">
                <a:solidFill>
                  <a:srgbClr val="F27B4D"/>
                </a:solidFill>
                <a:latin typeface="Arial"/>
              </a:rPr>
              <a:t>FILTER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Top 10</a:t>
            </a:r>
          </a:p>
          <a:p>
            <a:pPr algn="ctr">
              <a:spcBef>
                <a:spcPts val="1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most-represented species</a:t>
            </a:r>
          </a:p>
          <a:p>
            <a:pPr algn="ctr">
              <a:spcBef>
                <a:spcPts val="7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selected to build a clean,</a:t>
            </a:r>
          </a:p>
          <a:p>
            <a:pPr algn="ctr">
              <a:spcBef>
                <a:spcPts val="15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class-balanced training set</a:t>
            </a:r>
          </a:p>
        </p:txBody>
      </p:sp>
      <p:sp>
        <p:nvSpPr>
          <p:cNvPr id="22" name="Stage Subset"/>
          <p:cNvSpPr/>
          <p:nvPr/>
        </p:nvSpPr>
        <p:spPr>
          <a:xfrm>
            <a:off x="11112500" y="2921000"/>
            <a:ext cx="4305300" cy="3810000"/>
          </a:xfrm>
          <a:prstGeom prst="roundRect">
            <a:avLst>
              <a:gd name="adj" fmla="val 8000"/>
            </a:avLst>
          </a:prstGeom>
          <a:solidFill>
            <a:srgbClr val="324052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spc="200" dirty="0">
                <a:solidFill>
                  <a:srgbClr val="F27B4D"/>
                </a:solidFill>
                <a:latin typeface="Arial"/>
              </a:rPr>
              <a:t>WORKING SUBSET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2,006</a:t>
            </a:r>
          </a:p>
          <a:p>
            <a:pPr algn="ctr">
              <a:spcBef>
                <a:spcPts val="1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curated images</a:t>
            </a:r>
          </a:p>
          <a:p>
            <a:pPr algn="ctr">
              <a:spcBef>
                <a:spcPts val="7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a focused, high-quality base</a:t>
            </a:r>
          </a:p>
          <a:p>
            <a:pPr algn="ctr">
              <a:spcBef>
                <a:spcPts val="15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ready for preprocessing</a:t>
            </a:r>
          </a:p>
        </p:txBody>
      </p:sp>
      <p:sp>
        <p:nvSpPr>
          <p:cNvPr id="23" name="Arrow 1"/>
          <p:cNvSpPr/>
          <p:nvPr/>
        </p:nvSpPr>
        <p:spPr>
          <a:xfrm>
            <a:off x="5194300" y="4381500"/>
            <a:ext cx="698500" cy="889000"/>
          </a:xfrm>
          <a:prstGeom prst="rightArrow">
            <a:avLst/>
          </a:prstGeom>
          <a:solidFill>
            <a:srgbClr val="F27B4D"/>
          </a:solidFill>
          <a:ln>
            <a:noFill/>
          </a:ln>
        </p:spPr>
        <p:txBody>
          <a:bodyPr wrap="square" lIns="137160" tIns="91440" rIns="137160" bIns="91440" anchor="ctr">
            <a:normAutofit lnSpcReduction="10000"/>
          </a:bodyPr>
          <a:lstStyle/>
          <a:p>
            <a:endParaRPr lang="en-US"/>
          </a:p>
        </p:txBody>
      </p:sp>
      <p:sp>
        <p:nvSpPr>
          <p:cNvPr id="24" name="Arrow 2"/>
          <p:cNvSpPr/>
          <p:nvPr/>
        </p:nvSpPr>
        <p:spPr>
          <a:xfrm>
            <a:off x="10337800" y="4381500"/>
            <a:ext cx="698500" cy="889000"/>
          </a:xfrm>
          <a:prstGeom prst="rightArrow">
            <a:avLst/>
          </a:prstGeom>
          <a:solidFill>
            <a:srgbClr val="F27B4D"/>
          </a:solidFill>
          <a:ln>
            <a:noFill/>
          </a:ln>
        </p:spPr>
        <p:txBody>
          <a:bodyPr wrap="square" lIns="137160" tIns="91440" rIns="137160" bIns="91440" anchor="ctr">
            <a:normAutofit lnSpcReduction="10000"/>
          </a:bodyPr>
          <a:lstStyle/>
          <a:p>
            <a:endParaRPr lang="en-US"/>
          </a:p>
        </p:txBody>
      </p:sp>
      <p:sp>
        <p:nvSpPr>
          <p:cNvPr id="25" name="Accent Bar"/>
          <p:cNvSpPr/>
          <p:nvPr/>
        </p:nvSpPr>
        <p:spPr>
          <a:xfrm>
            <a:off x="825500" y="7112000"/>
            <a:ext cx="76200" cy="1422400"/>
          </a:xfrm>
          <a:prstGeom prst="rect">
            <a:avLst/>
          </a:prstGeom>
          <a:solidFill>
            <a:srgbClr val="F27B4D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endParaRPr lang="en-US"/>
          </a:p>
        </p:txBody>
      </p:sp>
      <p:sp>
        <p:nvSpPr>
          <p:cNvPr id="26" name="Narrative"/>
          <p:cNvSpPr/>
          <p:nvPr/>
        </p:nvSpPr>
        <p:spPr>
          <a:xfrm>
            <a:off x="1143000" y="7061200"/>
            <a:ext cx="14274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F27B4D"/>
                </a:solidFill>
                <a:latin typeface="Arial"/>
              </a:rPr>
              <a:t>WHY DISTILL?  </a:t>
            </a:r>
            <a:r>
              <a:rPr lang="en-US" sz="1600" dirty="0">
                <a:solidFill>
                  <a:srgbClr val="A9B4C2"/>
                </a:solidFill>
                <a:latin typeface="Arial"/>
              </a:rPr>
              <a:t>Most of the 135 species have too few images to learn from, so we focus on the 10 best-represented — a clean subset of 2,006 images that trains reliably under limited compute.</a:t>
            </a:r>
          </a:p>
          <a:p>
            <a:pPr algn="l">
              <a:spcBef>
                <a:spcPts val="400"/>
              </a:spcBef>
            </a:pPr>
            <a:r>
              <a:rPr lang="en-US" sz="1500" b="1" dirty="0">
                <a:solidFill>
                  <a:srgbClr val="F27B4D"/>
                </a:solidFill>
                <a:latin typeface="Arial"/>
              </a:rPr>
              <a:t>CLASS BALANCE  </a:t>
            </a:r>
            <a:r>
              <a:rPr lang="en-US" sz="1600" dirty="0">
                <a:solidFill>
                  <a:srgbClr val="A9B4C2"/>
                </a:solidFill>
                <a:latin typeface="Arial"/>
              </a:rPr>
              <a:t>5 venomous / 5 non-venomous species (~50 / 50 split).</a:t>
            </a:r>
          </a:p>
        </p:txBody>
      </p:sp>
    </p:spTree>
    <p:extLst>
      <p:ext uri="{BB962C8B-B14F-4D97-AF65-F5344CB8AC3E}">
        <p14:creationId xmlns:p14="http://schemas.microsoft.com/office/powerpoint/2010/main" val="403397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154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en-US" sz="3800" b="1" dirty="0">
                <a:solidFill>
                  <a:srgbClr val="FFFFFF"/>
                </a:solidFill>
                <a:latin typeface="Arial"/>
              </a:rPr>
              <a:t>Preprocessing &amp; Augmentation: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en-US" sz="3800" b="1" dirty="0">
                <a:solidFill>
                  <a:srgbClr val="FFFFFF"/>
                </a:solidFill>
                <a:latin typeface="Arial"/>
              </a:rPr>
              <a:t>Preparing Images for Training</a:t>
            </a:r>
          </a:p>
        </p:txBody>
      </p:sp>
      <p:sp>
        <p:nvSpPr>
          <p:cNvPr id="20" name="Step 1"/>
          <p:cNvSpPr/>
          <p:nvPr/>
        </p:nvSpPr>
        <p:spPr>
          <a:xfrm>
            <a:off x="825500" y="2921000"/>
            <a:ext cx="3429000" cy="3810000"/>
          </a:xfrm>
          <a:prstGeom prst="roundRect">
            <a:avLst>
              <a:gd name="adj" fmla="val 8000"/>
            </a:avLst>
          </a:prstGeom>
          <a:solidFill>
            <a:srgbClr val="202B3A"/>
          </a:solidFill>
          <a:ln>
            <a:noFill/>
          </a:ln>
        </p:spPr>
        <p:txBody>
          <a:bodyPr wrap="square" lIns="160020" tIns="160020" rIns="160020" bIns="120000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rgbClr val="F27B4D"/>
                </a:solidFill>
                <a:latin typeface="Arial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lang="en-US" sz="2100" b="1" dirty="0">
                <a:solidFill>
                  <a:srgbClr val="FFFFFF"/>
                </a:solidFill>
                <a:latin typeface="Arial"/>
              </a:rPr>
              <a:t>Resize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Every image is scaled to 224 × 224 px (RGB) — the native input size of the CNN backbone.</a:t>
            </a:r>
          </a:p>
        </p:txBody>
      </p:sp>
      <p:sp>
        <p:nvSpPr>
          <p:cNvPr id="21" name="Step 2"/>
          <p:cNvSpPr/>
          <p:nvPr/>
        </p:nvSpPr>
        <p:spPr>
          <a:xfrm>
            <a:off x="4559300" y="2921000"/>
            <a:ext cx="3429000" cy="3810000"/>
          </a:xfrm>
          <a:prstGeom prst="roundRect">
            <a:avLst>
              <a:gd name="adj" fmla="val 8000"/>
            </a:avLst>
          </a:prstGeom>
          <a:solidFill>
            <a:srgbClr val="202B3A"/>
          </a:solidFill>
          <a:ln>
            <a:noFill/>
          </a:ln>
        </p:spPr>
        <p:txBody>
          <a:bodyPr wrap="square" lIns="160020" tIns="160020" rIns="160020" bIns="120000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rgbClr val="F27B4D"/>
                </a:solidFill>
                <a:latin typeface="Arial"/>
              </a:rPr>
              <a:t>2</a:t>
            </a:r>
          </a:p>
          <a:p>
            <a:pPr algn="l">
              <a:spcBef>
                <a:spcPts val="400"/>
              </a:spcBef>
            </a:pPr>
            <a:r>
              <a:rPr lang="en-US" sz="2100" b="1" dirty="0">
                <a:solidFill>
                  <a:srgbClr val="FFFFFF"/>
                </a:solidFill>
                <a:latin typeface="Arial"/>
              </a:rPr>
              <a:t>Normalise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Pixel values are rescaled from 0–255 down to the [0, 1] range so the network trains stably.</a:t>
            </a:r>
          </a:p>
        </p:txBody>
      </p:sp>
      <p:sp>
        <p:nvSpPr>
          <p:cNvPr id="22" name="Step 3"/>
          <p:cNvSpPr/>
          <p:nvPr/>
        </p:nvSpPr>
        <p:spPr>
          <a:xfrm>
            <a:off x="8293100" y="2921000"/>
            <a:ext cx="3429000" cy="3810000"/>
          </a:xfrm>
          <a:prstGeom prst="roundRect">
            <a:avLst>
              <a:gd name="adj" fmla="val 8000"/>
            </a:avLst>
          </a:prstGeom>
          <a:solidFill>
            <a:srgbClr val="202B3A"/>
          </a:solidFill>
          <a:ln>
            <a:noFill/>
          </a:ln>
        </p:spPr>
        <p:txBody>
          <a:bodyPr wrap="square" lIns="160020" tIns="160020" rIns="160020" bIns="120000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rgbClr val="F27B4D"/>
                </a:solidFill>
                <a:latin typeface="Arial"/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lang="en-US" sz="2100" b="1" dirty="0">
                <a:solidFill>
                  <a:srgbClr val="FFFFFF"/>
                </a:solidFill>
                <a:latin typeface="Arial"/>
              </a:rPr>
              <a:t>Stratified Split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An 80 / 20 train–validation split preserves each species' proportion across both sets.</a:t>
            </a:r>
          </a:p>
        </p:txBody>
      </p:sp>
      <p:sp>
        <p:nvSpPr>
          <p:cNvPr id="23" name="Step 4"/>
          <p:cNvSpPr/>
          <p:nvPr/>
        </p:nvSpPr>
        <p:spPr>
          <a:xfrm>
            <a:off x="12026900" y="2921000"/>
            <a:ext cx="3429000" cy="3810000"/>
          </a:xfrm>
          <a:prstGeom prst="roundRect">
            <a:avLst>
              <a:gd name="adj" fmla="val 8000"/>
            </a:avLst>
          </a:prstGeom>
          <a:solidFill>
            <a:srgbClr val="202B3A"/>
          </a:solidFill>
          <a:ln>
            <a:noFill/>
          </a:ln>
        </p:spPr>
        <p:txBody>
          <a:bodyPr wrap="square" lIns="160020" tIns="160020" rIns="160020" bIns="120000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rgbClr val="F27B4D"/>
                </a:solidFill>
                <a:latin typeface="Arial"/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lang="en-US" sz="2100" b="1" dirty="0">
                <a:solidFill>
                  <a:srgbClr val="FFFFFF"/>
                </a:solidFill>
                <a:latin typeface="Arial"/>
              </a:rPr>
              <a:t>Augment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lang="en-US" sz="1500" b="0" dirty="0">
                <a:solidFill>
                  <a:srgbClr val="8A97A8"/>
                </a:solidFill>
                <a:latin typeface="Arial"/>
              </a:rPr>
              <a:t>Training set only: random flip, rotation and zoom add variety and curb overfitting.</a:t>
            </a:r>
          </a:p>
        </p:txBody>
      </p:sp>
      <p:sp>
        <p:nvSpPr>
          <p:cNvPr id="30" name="Chip"/>
          <p:cNvSpPr/>
          <p:nvPr/>
        </p:nvSpPr>
        <p:spPr>
          <a:xfrm>
            <a:off x="825500" y="7137400"/>
            <a:ext cx="4610100" cy="1371600"/>
          </a:xfrm>
          <a:prstGeom prst="roundRect">
            <a:avLst>
              <a:gd name="adj" fmla="val 12000"/>
            </a:avLst>
          </a:prstGeom>
          <a:solidFill>
            <a:srgbClr val="1A2433"/>
          </a:solidFill>
          <a:ln>
            <a:noFill/>
          </a:ln>
        </p:spPr>
        <p:txBody>
          <a:bodyPr wrap="square" lIns="45720" tIns="80000" rIns="4572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F27B4D"/>
                </a:solidFill>
                <a:latin typeface="Arial"/>
              </a:rPr>
              <a:t>224 × 224</a:t>
            </a:r>
          </a:p>
          <a:p>
            <a:pPr algn="ctr">
              <a:spcBef>
                <a:spcPts val="250"/>
              </a:spcBef>
            </a:pPr>
            <a:r>
              <a:rPr lang="en-US" sz="1400" b="0" spc="150" dirty="0">
                <a:solidFill>
                  <a:srgbClr val="A9B4C2"/>
                </a:solidFill>
                <a:latin typeface="Arial"/>
              </a:rPr>
              <a:t>INPUT SIZE · RGB</a:t>
            </a:r>
          </a:p>
        </p:txBody>
      </p:sp>
      <p:sp>
        <p:nvSpPr>
          <p:cNvPr id="31" name="Chip"/>
          <p:cNvSpPr/>
          <p:nvPr/>
        </p:nvSpPr>
        <p:spPr>
          <a:xfrm>
            <a:off x="5816600" y="7137400"/>
            <a:ext cx="4610100" cy="1371600"/>
          </a:xfrm>
          <a:prstGeom prst="roundRect">
            <a:avLst>
              <a:gd name="adj" fmla="val 12000"/>
            </a:avLst>
          </a:prstGeom>
          <a:solidFill>
            <a:srgbClr val="1A2433"/>
          </a:solidFill>
          <a:ln>
            <a:noFill/>
          </a:ln>
        </p:spPr>
        <p:txBody>
          <a:bodyPr wrap="square" lIns="45720" tIns="80000" rIns="4572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F27B4D"/>
                </a:solidFill>
                <a:latin typeface="Arial"/>
              </a:rPr>
              <a:t>1,604</a:t>
            </a:r>
          </a:p>
          <a:p>
            <a:pPr algn="ctr">
              <a:spcBef>
                <a:spcPts val="250"/>
              </a:spcBef>
            </a:pPr>
            <a:r>
              <a:rPr lang="en-US" sz="1400" b="0" spc="150" dirty="0">
                <a:solidFill>
                  <a:srgbClr val="A9B4C2"/>
                </a:solidFill>
                <a:latin typeface="Arial"/>
              </a:rPr>
              <a:t>TRAINING IMAGES · 80%</a:t>
            </a:r>
          </a:p>
        </p:txBody>
      </p:sp>
      <p:sp>
        <p:nvSpPr>
          <p:cNvPr id="32" name="Chip"/>
          <p:cNvSpPr/>
          <p:nvPr/>
        </p:nvSpPr>
        <p:spPr>
          <a:xfrm>
            <a:off x="10807700" y="7137400"/>
            <a:ext cx="4610100" cy="1371600"/>
          </a:xfrm>
          <a:prstGeom prst="roundRect">
            <a:avLst>
              <a:gd name="adj" fmla="val 12000"/>
            </a:avLst>
          </a:prstGeom>
          <a:solidFill>
            <a:srgbClr val="1A2433"/>
          </a:solidFill>
          <a:ln>
            <a:noFill/>
          </a:ln>
        </p:spPr>
        <p:txBody>
          <a:bodyPr wrap="square" lIns="45720" tIns="80000" rIns="45720" bIns="4572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3000" b="1" dirty="0">
                <a:solidFill>
                  <a:srgbClr val="F27B4D"/>
                </a:solidFill>
                <a:latin typeface="Arial"/>
              </a:rPr>
              <a:t>402</a:t>
            </a:r>
          </a:p>
          <a:p>
            <a:pPr algn="ctr">
              <a:spcBef>
                <a:spcPts val="250"/>
              </a:spcBef>
            </a:pPr>
            <a:r>
              <a:rPr lang="en-US" sz="1400" b="0" spc="150" dirty="0">
                <a:solidFill>
                  <a:srgbClr val="A9B4C2"/>
                </a:solidFill>
                <a:latin typeface="Arial"/>
              </a:rPr>
              <a:t>VALIDATION IMAGES · 20%</a:t>
            </a:r>
          </a:p>
        </p:txBody>
      </p:sp>
      <p:pic>
        <p:nvPicPr>
          <p:cNvPr id="33" name="Graphic 33" descr="Resize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7900" y="5588000"/>
            <a:ext cx="584200" cy="584200"/>
          </a:xfrm>
          <a:prstGeom prst="rect">
            <a:avLst/>
          </a:prstGeom>
        </p:spPr>
      </p:pic>
      <p:pic>
        <p:nvPicPr>
          <p:cNvPr id="34" name="Graphic 34" descr="Normalise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1700" y="5588000"/>
            <a:ext cx="584200" cy="584200"/>
          </a:xfrm>
          <a:prstGeom prst="rect">
            <a:avLst/>
          </a:prstGeom>
        </p:spPr>
      </p:pic>
      <p:pic>
        <p:nvPicPr>
          <p:cNvPr id="35" name="Graphic 35" descr="Spli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5500" y="5588000"/>
            <a:ext cx="584200" cy="584200"/>
          </a:xfrm>
          <a:prstGeom prst="rect">
            <a:avLst/>
          </a:prstGeom>
        </p:spPr>
      </p:pic>
      <p:pic>
        <p:nvPicPr>
          <p:cNvPr id="36" name="Graphic 36" descr="Augment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49300" y="55880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9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 dirty="0">
                <a:solidFill>
                  <a:srgbClr val="FFFFFF"/>
                </a:solidFill>
                <a:latin typeface="Arial"/>
              </a:rPr>
              <a:t>Architectural Evolution: From Baseline to</a:t>
            </a:r>
          </a:p>
          <a:p>
            <a:pPr algn="l">
              <a:lnSpc>
                <a:spcPct val="102000"/>
              </a:lnSpc>
            </a:pPr>
            <a:r>
              <a:rPr sz="3800" b="1" i="0" dirty="0">
                <a:solidFill>
                  <a:srgbClr val="FFFFFF"/>
                </a:solidFill>
                <a:latin typeface="Arial"/>
              </a:rPr>
              <a:t>State-of-the-Art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31720"/>
            <a:ext cx="4736592" cy="594360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" y="2496312"/>
            <a:ext cx="4407407" cy="105156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624327"/>
            <a:ext cx="40965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Baseline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(Random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9476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17880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Classic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047488"/>
            <a:ext cx="3913631" cy="10972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521208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59612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GridSearchCV optimisation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6464808"/>
            <a:ext cx="3913631" cy="10972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662940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701344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150K+ flattened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5584" y="2331720"/>
            <a:ext cx="4736592" cy="594360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80176" y="2496312"/>
            <a:ext cx="4407407" cy="105156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7064" y="2624327"/>
            <a:ext cx="40965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Model 1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(Custom CNN)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379476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417880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Deep Learning from Scratch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5047488"/>
            <a:ext cx="3913631" cy="10972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521208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559612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3 custom-trained conv blocks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6464808"/>
            <a:ext cx="3913631" cy="10972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27064" y="662940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701344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Acts as a baseline for feature extraction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08208" y="2331720"/>
            <a:ext cx="4736592" cy="5943600"/>
          </a:xfrm>
          <a:prstGeom prst="roundRect">
            <a:avLst>
              <a:gd name="adj" fmla="val 4000"/>
            </a:avLst>
          </a:prstGeom>
          <a:solidFill>
            <a:srgbClr val="2E3846"/>
          </a:solidFill>
          <a:ln w="25400">
            <a:solidFill>
              <a:srgbClr val="5B8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972800" y="2496312"/>
            <a:ext cx="4407407" cy="105156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 w="12700">
            <a:solidFill>
              <a:srgbClr val="5B8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19688" y="2624327"/>
            <a:ext cx="40965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Model 2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(Transfer Learning)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19688" y="379476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Approach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19688" y="417880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State-of-the-art Feature Extraction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19688" y="5047488"/>
            <a:ext cx="3913631" cy="10972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19688" y="521208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19688" y="559612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MobileNetV2 backbone (frozen)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19688" y="6464808"/>
            <a:ext cx="3913631" cy="10972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19688" y="6629400"/>
            <a:ext cx="4005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7A8"/>
                </a:solidFill>
                <a:latin typeface="Arial"/>
              </a:rPr>
              <a:t>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19688" y="7013448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Paired with a custom classification 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154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en-US" sz="3800" b="1">
                <a:solidFill>
                  <a:srgbClr val="FFFFFF"/>
                </a:solidFill>
                <a:latin typeface="Arial"/>
              </a:rPr>
              <a:t>Baseline Report: Random Forest + GridSearchCV</a:t>
            </a:r>
            <a:endParaRPr lang="en-US" sz="3800" b="1" dirty="0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E12AE7-6781-A44F-ABDD-EA174BA4AECC}"/>
              </a:ext>
            </a:extLst>
          </p:cNvPr>
          <p:cNvGraphicFramePr>
            <a:graphicFrameLocks noGrp="1"/>
          </p:cNvGraphicFramePr>
          <p:nvPr/>
        </p:nvGraphicFramePr>
        <p:xfrm>
          <a:off x="825500" y="2349500"/>
          <a:ext cx="9144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60735468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88824090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3596397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2124879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83649294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Species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Recall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F1-score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Support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7372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Agkistrodon piscivorus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0863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Ahaetulla nasuta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0.23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0.12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0.16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434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Ahaetulla prasina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0.35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0.23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8020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Austrelaps superbus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0.22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0.25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0.24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324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Boiga kraepelini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0.35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0.33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0.34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374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Bothriechis schlegelii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0.27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0.31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42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786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Bothrops asper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0.12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41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194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Carphophis vermis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0.27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0.35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39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9759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 dirty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Crotalus tigris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0.32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0.42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526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Imantodes cenchoa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0.33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0.31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674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Macro avg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0.26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402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291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Weighted avg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0.26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402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435138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05568F-2D7D-0C4B-8F32-8CD1226BFB9C}"/>
              </a:ext>
            </a:extLst>
          </p:cNvPr>
          <p:cNvSpPr/>
          <p:nvPr/>
        </p:nvSpPr>
        <p:spPr>
          <a:xfrm>
            <a:off x="10414000" y="2349500"/>
            <a:ext cx="5016500" cy="1905000"/>
          </a:xfrm>
          <a:prstGeom prst="roundRect">
            <a:avLst/>
          </a:prstGeom>
          <a:solidFill>
            <a:srgbClr val="202B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E1AB7B-B918-DE4A-9E47-4FFE5853186C}"/>
              </a:ext>
            </a:extLst>
          </p:cNvPr>
          <p:cNvSpPr/>
          <p:nvPr/>
        </p:nvSpPr>
        <p:spPr>
          <a:xfrm>
            <a:off x="10414000" y="4508500"/>
            <a:ext cx="5016500" cy="32385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4FA46-98F3-804E-AE2A-1E331024B550}"/>
              </a:ext>
            </a:extLst>
          </p:cNvPr>
          <p:cNvSpPr txBox="1"/>
          <p:nvPr/>
        </p:nvSpPr>
        <p:spPr>
          <a:xfrm>
            <a:off x="10668000" y="25654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27B4D"/>
                </a:solidFill>
                <a:latin typeface="Arial"/>
                <a:cs typeface="Arial"/>
              </a:rPr>
              <a:t>VALIDATION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F2DF3-5FC5-0840-BDDC-878741748209}"/>
              </a:ext>
            </a:extLst>
          </p:cNvPr>
          <p:cNvSpPr txBox="1"/>
          <p:nvPr/>
        </p:nvSpPr>
        <p:spPr>
          <a:xfrm>
            <a:off x="10642600" y="2844800"/>
            <a:ext cx="45085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26.9%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7F53E-DD20-1E4C-B1B6-3C100F3783D2}"/>
              </a:ext>
            </a:extLst>
          </p:cNvPr>
          <p:cNvSpPr txBox="1"/>
          <p:nvPr/>
        </p:nvSpPr>
        <p:spPr>
          <a:xfrm>
            <a:off x="10668000" y="38100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A97A8"/>
                </a:solidFill>
                <a:latin typeface="Arial"/>
                <a:cs typeface="Arial"/>
              </a:rPr>
              <a:t>402 validation images · 10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EDCBD-B2AD-B64E-97DC-2565B184DBED}"/>
              </a:ext>
            </a:extLst>
          </p:cNvPr>
          <p:cNvSpPr txBox="1"/>
          <p:nvPr/>
        </p:nvSpPr>
        <p:spPr>
          <a:xfrm>
            <a:off x="10668000" y="47498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27B4D"/>
                </a:solidFill>
                <a:latin typeface="Arial"/>
                <a:cs typeface="Arial"/>
              </a:rPr>
              <a:t>THE TAKEAWAY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96245-BEB6-664A-81CD-7F6E8D1E8D34}"/>
              </a:ext>
            </a:extLst>
          </p:cNvPr>
          <p:cNvSpPr txBox="1"/>
          <p:nvPr/>
        </p:nvSpPr>
        <p:spPr>
          <a:xfrm>
            <a:off x="10668000" y="5130800"/>
            <a:ext cx="45085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A9B4C2"/>
                </a:solidFill>
                <a:latin typeface="Arial"/>
                <a:cs typeface="Arial"/>
              </a:rPr>
              <a:t>A classical Random Forest tops out at ~27% — well above the 10% random-chance floor for 10 classes, but far short of clinical reliability.
This gap is exactly what deep transfer learning is built to close.</a:t>
            </a:r>
          </a:p>
        </p:txBody>
      </p:sp>
    </p:spTree>
    <p:extLst>
      <p:ext uri="{BB962C8B-B14F-4D97-AF65-F5344CB8AC3E}">
        <p14:creationId xmlns:p14="http://schemas.microsoft.com/office/powerpoint/2010/main" val="152677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154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en-US" sz="3800" b="1">
                <a:solidFill>
                  <a:srgbClr val="FFFFFF"/>
                </a:solidFill>
                <a:latin typeface="Arial"/>
              </a:rPr>
              <a:t>CNN Report: Custom Convolutional Network</a:t>
            </a:r>
            <a:endParaRPr lang="en-US" sz="3800" b="1" dirty="0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DD8E2B-2229-2B44-B0E1-0A3D4B0882A3}"/>
              </a:ext>
            </a:extLst>
          </p:cNvPr>
          <p:cNvGraphicFramePr>
            <a:graphicFrameLocks noGrp="1"/>
          </p:cNvGraphicFramePr>
          <p:nvPr/>
        </p:nvGraphicFramePr>
        <p:xfrm>
          <a:off x="825500" y="2349500"/>
          <a:ext cx="9144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8628728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8765355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26445479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5724806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38403577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Species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Recall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F1-score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Support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4907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Agkistrodon piscivorus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0.28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0.33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5697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Ahaetulla nasuta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0.55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0.46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6685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Ahaetulla prasina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0.45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0.46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7439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Austrelaps superbus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0.45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0.42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102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Boiga kraepelini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0.43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0.38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8762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Bothriechis schlegelii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0.56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0.64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42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7084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Bothrops asper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0.39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0.34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0.36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41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088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Carphophis vermis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0.76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0.67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39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723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 dirty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Crotalus tigris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0.45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0.55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103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Imantodes cenchoa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0.46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0.33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0.38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277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Macro avg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0.48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0.47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0.47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402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67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Weighted avg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0.48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0.47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0.47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402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955716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11C525-F3B0-0A4F-A90D-60D05FF78BC9}"/>
              </a:ext>
            </a:extLst>
          </p:cNvPr>
          <p:cNvSpPr/>
          <p:nvPr/>
        </p:nvSpPr>
        <p:spPr>
          <a:xfrm>
            <a:off x="10414000" y="2349500"/>
            <a:ext cx="5016500" cy="1905000"/>
          </a:xfrm>
          <a:prstGeom prst="roundRect">
            <a:avLst/>
          </a:prstGeom>
          <a:solidFill>
            <a:srgbClr val="202B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C3B631-9318-1143-BF53-21FCCDFDC454}"/>
              </a:ext>
            </a:extLst>
          </p:cNvPr>
          <p:cNvSpPr/>
          <p:nvPr/>
        </p:nvSpPr>
        <p:spPr>
          <a:xfrm>
            <a:off x="10414000" y="4508500"/>
            <a:ext cx="5016500" cy="32385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F91B7-C379-C048-AD29-1A4EF0ED6E8C}"/>
              </a:ext>
            </a:extLst>
          </p:cNvPr>
          <p:cNvSpPr txBox="1"/>
          <p:nvPr/>
        </p:nvSpPr>
        <p:spPr>
          <a:xfrm>
            <a:off x="10668000" y="25654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27B4D"/>
                </a:solidFill>
                <a:latin typeface="Arial"/>
                <a:cs typeface="Arial"/>
              </a:rPr>
              <a:t>VALIDATION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11EDA-9ED9-AD47-ABF6-3E72165BEC6E}"/>
              </a:ext>
            </a:extLst>
          </p:cNvPr>
          <p:cNvSpPr txBox="1"/>
          <p:nvPr/>
        </p:nvSpPr>
        <p:spPr>
          <a:xfrm>
            <a:off x="10642600" y="2844800"/>
            <a:ext cx="45085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46.8%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B67DA-A228-F044-A4E7-EF5CD639AED3}"/>
              </a:ext>
            </a:extLst>
          </p:cNvPr>
          <p:cNvSpPr txBox="1"/>
          <p:nvPr/>
        </p:nvSpPr>
        <p:spPr>
          <a:xfrm>
            <a:off x="10668000" y="38100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A97A8"/>
                </a:solidFill>
                <a:latin typeface="Arial"/>
                <a:cs typeface="Arial"/>
              </a:rPr>
              <a:t>402 validation images · 10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B8E0D-0008-1943-A8AF-38E2EDB5BD68}"/>
              </a:ext>
            </a:extLst>
          </p:cNvPr>
          <p:cNvSpPr txBox="1"/>
          <p:nvPr/>
        </p:nvSpPr>
        <p:spPr>
          <a:xfrm>
            <a:off x="10668000" y="47498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27B4D"/>
                </a:solidFill>
                <a:latin typeface="Arial"/>
                <a:cs typeface="Arial"/>
              </a:rPr>
              <a:t>THE TAKEAWAY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C0C8E-5F83-8A49-9EBF-FBB386057C62}"/>
              </a:ext>
            </a:extLst>
          </p:cNvPr>
          <p:cNvSpPr txBox="1"/>
          <p:nvPr/>
        </p:nvSpPr>
        <p:spPr>
          <a:xfrm>
            <a:off x="10668000" y="5130800"/>
            <a:ext cx="45085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A9B4C2"/>
                </a:solidFill>
                <a:latin typeface="Arial"/>
                <a:cs typeface="Arial"/>
              </a:rPr>
              <a:t>A purpose-built CNN nearly doubles the baseline — 26.9% → 46.8% (+19.9 pts). Learned visual features clearly help, yet accuracy still falls short of clinical reliability.
Transfer learning takes the next leap.</a:t>
            </a:r>
          </a:p>
        </p:txBody>
      </p:sp>
    </p:spTree>
    <p:extLst>
      <p:ext uri="{BB962C8B-B14F-4D97-AF65-F5344CB8AC3E}">
        <p14:creationId xmlns:p14="http://schemas.microsoft.com/office/powerpoint/2010/main" val="228466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720E24C-2FF5-804D-BDC1-18B028E26027}"/>
              </a:ext>
            </a:extLst>
          </p:cNvPr>
          <p:cNvSpPr/>
          <p:nvPr/>
        </p:nvSpPr>
        <p:spPr>
          <a:xfrm>
            <a:off x="1270000" y="2260600"/>
            <a:ext cx="13716000" cy="4648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502920"/>
            <a:ext cx="12801600" cy="587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IN" sz="4000" b="1" i="0" dirty="0">
                <a:solidFill>
                  <a:srgbClr val="FFFFFF"/>
                </a:solidFill>
                <a:latin typeface="Arial"/>
              </a:rPr>
              <a:t>CNN Training Dynamics</a:t>
            </a:r>
            <a:endParaRPr sz="40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356C6-60B6-07F6-7DCA-2B6234803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04020"/>
            <a:ext cx="13208000" cy="4335960"/>
          </a:xfrm>
          <a:prstGeom prst="rect">
            <a:avLst/>
          </a:prstGeom>
        </p:spPr>
      </p:pic>
      <p:sp>
        <p:nvSpPr>
          <p:cNvPr id="60" name="Caption"/>
          <p:cNvSpPr/>
          <p:nvPr/>
        </p:nvSpPr>
        <p:spPr>
          <a:xfrm>
            <a:off x="1778000" y="7061200"/>
            <a:ext cx="1270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en-US" sz="1600" dirty="0">
                <a:solidFill>
                  <a:srgbClr val="A9B4C2"/>
                </a:solidFill>
                <a:latin typeface="Arial"/>
              </a:rPr>
              <a:t>Train accuracy keeps climbing while validation accuracy plateaus near 47% and validation loss begins to rise after ~epoch 13 — classic signs of overfitting in the from-scratch CNN, motivating the shift to transfer learning.</a:t>
            </a:r>
          </a:p>
        </p:txBody>
      </p:sp>
    </p:spTree>
    <p:extLst>
      <p:ext uri="{BB962C8B-B14F-4D97-AF65-F5344CB8AC3E}">
        <p14:creationId xmlns:p14="http://schemas.microsoft.com/office/powerpoint/2010/main" val="80266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154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en-US" sz="3800" b="1">
                <a:solidFill>
                  <a:srgbClr val="FFFFFF"/>
                </a:solidFill>
                <a:latin typeface="Arial"/>
              </a:rPr>
              <a:t>Transfer Learning Report: MobileNetV2 (Champion)</a:t>
            </a:r>
            <a:endParaRPr lang="en-US" sz="3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338523-646F-0448-8E7A-D6126DD27DF8}"/>
              </a:ext>
            </a:extLst>
          </p:cNvPr>
          <p:cNvSpPr/>
          <p:nvPr/>
        </p:nvSpPr>
        <p:spPr>
          <a:xfrm>
            <a:off x="10414000" y="2349500"/>
            <a:ext cx="5016500" cy="1905000"/>
          </a:xfrm>
          <a:prstGeom prst="roundRect">
            <a:avLst/>
          </a:prstGeom>
          <a:solidFill>
            <a:srgbClr val="202B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6518DE-1D4C-B746-8050-E7A4118F3ED8}"/>
              </a:ext>
            </a:extLst>
          </p:cNvPr>
          <p:cNvSpPr/>
          <p:nvPr/>
        </p:nvSpPr>
        <p:spPr>
          <a:xfrm>
            <a:off x="10414000" y="4508500"/>
            <a:ext cx="5016500" cy="32385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2FBDF-40EF-5946-A850-7A8B88B0AFA8}"/>
              </a:ext>
            </a:extLst>
          </p:cNvPr>
          <p:cNvSpPr txBox="1"/>
          <p:nvPr/>
        </p:nvSpPr>
        <p:spPr>
          <a:xfrm>
            <a:off x="10668000" y="25654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27B4D"/>
                </a:solidFill>
                <a:latin typeface="Arial"/>
                <a:cs typeface="Arial"/>
              </a:rPr>
              <a:t>VALIDATION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238CA-B8FC-4E4D-BD98-B1ABD3E2F13C}"/>
              </a:ext>
            </a:extLst>
          </p:cNvPr>
          <p:cNvSpPr txBox="1"/>
          <p:nvPr/>
        </p:nvSpPr>
        <p:spPr>
          <a:xfrm>
            <a:off x="10642600" y="2844800"/>
            <a:ext cx="45085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71.1%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2D212-0CB6-4A4A-B469-7C989D82774D}"/>
              </a:ext>
            </a:extLst>
          </p:cNvPr>
          <p:cNvSpPr txBox="1"/>
          <p:nvPr/>
        </p:nvSpPr>
        <p:spPr>
          <a:xfrm>
            <a:off x="10668000" y="38100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A97A8"/>
                </a:solidFill>
                <a:latin typeface="Arial"/>
                <a:cs typeface="Arial"/>
              </a:rPr>
              <a:t>402 validation images · 10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E521E-2048-F34A-8F51-085911EFDB6C}"/>
              </a:ext>
            </a:extLst>
          </p:cNvPr>
          <p:cNvSpPr txBox="1"/>
          <p:nvPr/>
        </p:nvSpPr>
        <p:spPr>
          <a:xfrm>
            <a:off x="10668000" y="47498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27B4D"/>
                </a:solidFill>
                <a:latin typeface="Arial"/>
                <a:cs typeface="Arial"/>
              </a:rPr>
              <a:t>THE TAKEAWAY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04277-895D-DD48-AE73-15DE491D44D7}"/>
              </a:ext>
            </a:extLst>
          </p:cNvPr>
          <p:cNvSpPr txBox="1"/>
          <p:nvPr/>
        </p:nvSpPr>
        <p:spPr>
          <a:xfrm>
            <a:off x="10668000" y="5130800"/>
            <a:ext cx="45085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A9B4C2"/>
                </a:solidFill>
                <a:latin typeface="Arial"/>
                <a:cs typeface="Arial"/>
              </a:rPr>
              <a:t>Transfer learning delivers the leap — 46.8% → 71.1% (+24.4 pts over the from-scratch CNN, +44.3 pts over baseline). Pre-trained ImageNet features generalise far better on a small dataset.
This is the champion model.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DF756E-8FBE-8D4C-9C25-174FF00C7547}"/>
              </a:ext>
            </a:extLst>
          </p:cNvPr>
          <p:cNvGraphicFramePr>
            <a:graphicFrameLocks noGrp="1"/>
          </p:cNvGraphicFramePr>
          <p:nvPr/>
        </p:nvGraphicFramePr>
        <p:xfrm>
          <a:off x="825500" y="2349500"/>
          <a:ext cx="9144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1966965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153125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1246934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42173494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54997074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Species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Recall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F1-score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27B4D"/>
                          </a:solidFill>
                          <a:latin typeface="Arial"/>
                          <a:cs typeface="Arial"/>
                        </a:rPr>
                        <a:t>Support</a:t>
                      </a:r>
                    </a:p>
                  </a:txBody>
                  <a:tcPr anchor="ctr">
                    <a:solidFill>
                      <a:srgbClr val="2A3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6234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Agkistrodon piscivorus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0.64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0.61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955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Ahaetulla nasuta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0.58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0.65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0.61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476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Ahaetulla prasina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0.56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0.47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0.51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45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Austrelaps superbus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0.73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0.88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0.80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684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Boiga kraepelini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0.56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0.62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1016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Bothriechis schlegelii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0.77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0.74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42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618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Bothrops asper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0.84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0.63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0.72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41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7022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Carphophis vermis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0.90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0.97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0.94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39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986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 dirty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⚠️ Crotalus tigris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0.87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0.97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0.92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B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9809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1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Imantodes cenchoa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0.69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0.55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0.61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C7D0DB"/>
                          </a:solidFill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16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9559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Macro avg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402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809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Weighted avg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0.71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402</a:t>
                      </a:r>
                    </a:p>
                  </a:txBody>
                  <a:tcPr anchor="ctr">
                    <a:solidFill>
                      <a:srgbClr val="23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102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312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7FD3DB-2FEC-014F-8308-508450E0F64F}"/>
              </a:ext>
            </a:extLst>
          </p:cNvPr>
          <p:cNvSpPr/>
          <p:nvPr/>
        </p:nvSpPr>
        <p:spPr>
          <a:xfrm>
            <a:off x="1270000" y="2260600"/>
            <a:ext cx="13716000" cy="46482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502920"/>
            <a:ext cx="12801600" cy="558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IN" sz="3800" b="1" i="0" dirty="0">
                <a:solidFill>
                  <a:srgbClr val="FFFFFF"/>
                </a:solidFill>
                <a:latin typeface="Arial"/>
              </a:rPr>
              <a:t>Transfer Learning Dynamics</a:t>
            </a:r>
            <a:endParaRPr sz="38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CA0507-C358-7773-FC37-4C1EF080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00300"/>
            <a:ext cx="13208000" cy="4335960"/>
          </a:xfrm>
          <a:prstGeom prst="rect">
            <a:avLst/>
          </a:prstGeom>
        </p:spPr>
      </p:pic>
      <p:sp>
        <p:nvSpPr>
          <p:cNvPr id="60" name="Caption"/>
          <p:cNvSpPr/>
          <p:nvPr/>
        </p:nvSpPr>
        <p:spPr>
          <a:xfrm>
            <a:off x="1778000" y="7061200"/>
            <a:ext cx="1270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en-US" sz="1600" dirty="0">
                <a:solidFill>
                  <a:srgbClr val="A9B4C2"/>
                </a:solidFill>
                <a:latin typeface="Arial"/>
              </a:rPr>
              <a:t>Validation accuracy climbs steadily to ~70% while validation loss stays low and flat — the pretrained ImageNet features generalise well, with only a modest train/validation gap and no runaway overfitting.</a:t>
            </a:r>
          </a:p>
        </p:txBody>
      </p:sp>
    </p:spTree>
    <p:extLst>
      <p:ext uri="{BB962C8B-B14F-4D97-AF65-F5344CB8AC3E}">
        <p14:creationId xmlns:p14="http://schemas.microsoft.com/office/powerpoint/2010/main" val="333690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Performance Benchmark:</a:t>
            </a:r>
          </a:p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Transfer Learning Advantage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2468880"/>
          <a:ext cx="969264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0" y="2834640"/>
            <a:ext cx="4480560" cy="457200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3291840"/>
            <a:ext cx="3657600" cy="6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A9B4C2"/>
                </a:solidFill>
                <a:latin typeface="Arial"/>
              </a:rPr>
              <a:t>A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+44.3 pt</a:t>
            </a:r>
            <a:r>
              <a:rPr sz="2000" b="0" i="0">
                <a:solidFill>
                  <a:srgbClr val="A9B4C2"/>
                </a:solidFill>
                <a:latin typeface="Arial"/>
              </a:rPr>
              <a:t> absolute gain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A9B4C2"/>
                </a:solidFill>
                <a:latin typeface="Arial"/>
              </a:rPr>
              <a:t>over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4572000"/>
            <a:ext cx="3657600" cy="2146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Pre-trained ImageNet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weights successfully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capture the complex,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nuanced visual patterns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of snake scales that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custom models struggle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A9B4C2"/>
                </a:solidFill>
                <a:latin typeface="Arial"/>
              </a:rPr>
              <a:t>to learn from scratch.</a:t>
            </a:r>
          </a:p>
        </p:txBody>
      </p:sp>
    </p:spTree>
    <p:extLst>
      <p:ext uri="{BB962C8B-B14F-4D97-AF65-F5344CB8AC3E}">
        <p14:creationId xmlns:p14="http://schemas.microsoft.com/office/powerpoint/2010/main" val="835240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Champion Architecture: Efficient by Design</a:t>
            </a:r>
          </a:p>
        </p:txBody>
      </p:sp>
      <p:sp>
        <p:nvSpPr>
          <p:cNvPr id="20" name="Layer 1"/>
          <p:cNvSpPr/>
          <p:nvPr/>
        </p:nvSpPr>
        <p:spPr>
          <a:xfrm>
            <a:off x="825500" y="2603500"/>
            <a:ext cx="2514600" cy="1397000"/>
          </a:xfrm>
          <a:prstGeom prst="roundRect">
            <a:avLst>
              <a:gd name="adj" fmla="val 9000"/>
            </a:avLst>
          </a:prstGeom>
          <a:solidFill>
            <a:srgbClr val="202B3A"/>
          </a:solidFill>
          <a:ln>
            <a:noFill/>
          </a:ln>
        </p:spPr>
        <p:txBody>
          <a:bodyPr wrap="square" lIns="120000" tIns="60000" rIns="12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Input</a:t>
            </a:r>
          </a:p>
          <a:p>
            <a:pPr algn="ctr">
              <a:spcBef>
                <a:spcPts val="300"/>
              </a:spcBef>
            </a:pPr>
            <a:r>
              <a:rPr lang="en-US" sz="1250" b="0" dirty="0">
                <a:solidFill>
                  <a:srgbClr val="8A97A8"/>
                </a:solidFill>
                <a:latin typeface="Arial"/>
              </a:rPr>
              <a:t>224 × 224 × 3</a:t>
            </a:r>
          </a:p>
        </p:txBody>
      </p:sp>
      <p:sp>
        <p:nvSpPr>
          <p:cNvPr id="21" name="Layer 2"/>
          <p:cNvSpPr/>
          <p:nvPr/>
        </p:nvSpPr>
        <p:spPr>
          <a:xfrm>
            <a:off x="3848100" y="2603500"/>
            <a:ext cx="2514600" cy="1397000"/>
          </a:xfrm>
          <a:prstGeom prst="roundRect">
            <a:avLst>
              <a:gd name="adj" fmla="val 9000"/>
            </a:avLst>
          </a:prstGeom>
          <a:solidFill>
            <a:srgbClr val="283546"/>
          </a:solidFill>
          <a:ln>
            <a:noFill/>
          </a:ln>
        </p:spPr>
        <p:txBody>
          <a:bodyPr wrap="square" lIns="120000" tIns="60000" rIns="12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MobileNetV2</a:t>
            </a:r>
          </a:p>
          <a:p>
            <a:pPr algn="ctr">
              <a:spcBef>
                <a:spcPts val="300"/>
              </a:spcBef>
            </a:pPr>
            <a:r>
              <a:rPr lang="en-US" sz="1250" b="0" dirty="0">
                <a:solidFill>
                  <a:srgbClr val="8A97A8"/>
                </a:solidFill>
                <a:latin typeface="Arial"/>
              </a:rPr>
              <a:t>frozen backbone · 7×7×1280</a:t>
            </a:r>
          </a:p>
        </p:txBody>
      </p:sp>
      <p:sp>
        <p:nvSpPr>
          <p:cNvPr id="22" name="Layer 3"/>
          <p:cNvSpPr/>
          <p:nvPr/>
        </p:nvSpPr>
        <p:spPr>
          <a:xfrm>
            <a:off x="6870700" y="2603500"/>
            <a:ext cx="2514600" cy="1397000"/>
          </a:xfrm>
          <a:prstGeom prst="roundRect">
            <a:avLst>
              <a:gd name="adj" fmla="val 9000"/>
            </a:avLst>
          </a:prstGeom>
          <a:solidFill>
            <a:srgbClr val="202B3A"/>
          </a:solidFill>
          <a:ln>
            <a:noFill/>
          </a:ln>
        </p:spPr>
        <p:txBody>
          <a:bodyPr wrap="square" lIns="120000" tIns="60000" rIns="12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Global Avg Pool</a:t>
            </a:r>
          </a:p>
          <a:p>
            <a:pPr algn="ctr">
              <a:spcBef>
                <a:spcPts val="300"/>
              </a:spcBef>
            </a:pPr>
            <a:r>
              <a:rPr lang="en-US" sz="1250" b="0" dirty="0">
                <a:solidFill>
                  <a:srgbClr val="8A97A8"/>
                </a:solidFill>
                <a:latin typeface="Arial"/>
              </a:rPr>
              <a:t>→ 1280</a:t>
            </a:r>
          </a:p>
        </p:txBody>
      </p:sp>
      <p:sp>
        <p:nvSpPr>
          <p:cNvPr id="23" name="Layer 4"/>
          <p:cNvSpPr/>
          <p:nvPr/>
        </p:nvSpPr>
        <p:spPr>
          <a:xfrm>
            <a:off x="9893300" y="2603500"/>
            <a:ext cx="2514600" cy="1397000"/>
          </a:xfrm>
          <a:prstGeom prst="roundRect">
            <a:avLst>
              <a:gd name="adj" fmla="val 9000"/>
            </a:avLst>
          </a:prstGeom>
          <a:solidFill>
            <a:srgbClr val="202B3A"/>
          </a:solidFill>
          <a:ln>
            <a:noFill/>
          </a:ln>
        </p:spPr>
        <p:txBody>
          <a:bodyPr wrap="square" lIns="120000" tIns="60000" rIns="12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Dense 128</a:t>
            </a:r>
          </a:p>
          <a:p>
            <a:pPr algn="ctr">
              <a:spcBef>
                <a:spcPts val="300"/>
              </a:spcBef>
            </a:pPr>
            <a:r>
              <a:rPr lang="en-US" sz="1250" b="0" dirty="0">
                <a:solidFill>
                  <a:srgbClr val="8A97A8"/>
                </a:solidFill>
                <a:latin typeface="Arial"/>
              </a:rPr>
              <a:t>ReLU + Dropout</a:t>
            </a:r>
          </a:p>
        </p:txBody>
      </p:sp>
      <p:sp>
        <p:nvSpPr>
          <p:cNvPr id="24" name="Layer 5"/>
          <p:cNvSpPr/>
          <p:nvPr/>
        </p:nvSpPr>
        <p:spPr>
          <a:xfrm>
            <a:off x="12915900" y="2603500"/>
            <a:ext cx="2514600" cy="1397000"/>
          </a:xfrm>
          <a:prstGeom prst="roundRect">
            <a:avLst>
              <a:gd name="adj" fmla="val 9000"/>
            </a:avLst>
          </a:prstGeom>
          <a:solidFill>
            <a:srgbClr val="202B3A"/>
          </a:solidFill>
          <a:ln>
            <a:noFill/>
          </a:ln>
        </p:spPr>
        <p:txBody>
          <a:bodyPr wrap="square" lIns="120000" tIns="60000" rIns="12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Dense 10</a:t>
            </a:r>
          </a:p>
          <a:p>
            <a:pPr algn="ctr">
              <a:spcBef>
                <a:spcPts val="300"/>
              </a:spcBef>
            </a:pPr>
            <a:r>
              <a:rPr lang="en-US" sz="1250" b="0" dirty="0">
                <a:solidFill>
                  <a:srgbClr val="8A97A8"/>
                </a:solidFill>
                <a:latin typeface="Arial"/>
              </a:rPr>
              <a:t>Softmax → 10 classes</a:t>
            </a:r>
          </a:p>
        </p:txBody>
      </p:sp>
      <p:sp>
        <p:nvSpPr>
          <p:cNvPr id="30" name="Arrow 1"/>
          <p:cNvSpPr/>
          <p:nvPr/>
        </p:nvSpPr>
        <p:spPr>
          <a:xfrm>
            <a:off x="3416300" y="3073400"/>
            <a:ext cx="355600" cy="457200"/>
          </a:xfrm>
          <a:prstGeom prst="rightArrow">
            <a:avLst/>
          </a:prstGeom>
          <a:solidFill>
            <a:srgbClr val="F27B4D"/>
          </a:solidFill>
          <a:ln>
            <a:noFill/>
          </a:ln>
        </p:spPr>
        <p:txBody>
          <a:bodyPr wrap="square" lIns="120000" tIns="60000" rIns="120000" bIns="6000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1" name="Arrow 2"/>
          <p:cNvSpPr/>
          <p:nvPr/>
        </p:nvSpPr>
        <p:spPr>
          <a:xfrm>
            <a:off x="6438900" y="3073400"/>
            <a:ext cx="355600" cy="457200"/>
          </a:xfrm>
          <a:prstGeom prst="rightArrow">
            <a:avLst/>
          </a:prstGeom>
          <a:solidFill>
            <a:srgbClr val="F27B4D"/>
          </a:solidFill>
          <a:ln>
            <a:noFill/>
          </a:ln>
        </p:spPr>
        <p:txBody>
          <a:bodyPr wrap="square" lIns="120000" tIns="60000" rIns="120000" bIns="6000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2" name="Arrow 3"/>
          <p:cNvSpPr/>
          <p:nvPr/>
        </p:nvSpPr>
        <p:spPr>
          <a:xfrm>
            <a:off x="9461500" y="3073400"/>
            <a:ext cx="355600" cy="457200"/>
          </a:xfrm>
          <a:prstGeom prst="rightArrow">
            <a:avLst/>
          </a:prstGeom>
          <a:solidFill>
            <a:srgbClr val="F27B4D"/>
          </a:solidFill>
          <a:ln>
            <a:noFill/>
          </a:ln>
        </p:spPr>
        <p:txBody>
          <a:bodyPr wrap="square" lIns="120000" tIns="60000" rIns="120000" bIns="6000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3" name="Arrow 4"/>
          <p:cNvSpPr/>
          <p:nvPr/>
        </p:nvSpPr>
        <p:spPr>
          <a:xfrm>
            <a:off x="12484100" y="3073400"/>
            <a:ext cx="355600" cy="457200"/>
          </a:xfrm>
          <a:prstGeom prst="rightArrow">
            <a:avLst/>
          </a:prstGeom>
          <a:solidFill>
            <a:srgbClr val="F27B4D"/>
          </a:solidFill>
          <a:ln>
            <a:noFill/>
          </a:ln>
        </p:spPr>
        <p:txBody>
          <a:bodyPr wrap="square" lIns="120000" tIns="60000" rIns="120000" bIns="60000" anchor="ctr"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0" name="Stat 1"/>
          <p:cNvSpPr/>
          <p:nvPr/>
        </p:nvSpPr>
        <p:spPr>
          <a:xfrm>
            <a:off x="825500" y="4572000"/>
            <a:ext cx="4610100" cy="1905000"/>
          </a:xfrm>
          <a:prstGeom prst="roundRect">
            <a:avLst>
              <a:gd name="adj" fmla="val 9000"/>
            </a:avLst>
          </a:prstGeom>
          <a:solidFill>
            <a:srgbClr val="1A2433"/>
          </a:solidFill>
          <a:ln>
            <a:noFill/>
          </a:ln>
        </p:spPr>
        <p:txBody>
          <a:bodyPr wrap="square" lIns="100000" tIns="60000" rIns="10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spc="150" dirty="0">
                <a:solidFill>
                  <a:srgbClr val="F27B4D"/>
                </a:solidFill>
                <a:latin typeface="Arial"/>
              </a:rPr>
              <a:t>MODEL SIZE</a:t>
            </a:r>
          </a:p>
          <a:p>
            <a:pPr algn="ctr">
              <a:spcBef>
                <a:spcPts val="350"/>
              </a:spcBef>
            </a:pPr>
            <a:r>
              <a:rPr lang="en-US" sz="3600" b="1" dirty="0">
                <a:solidFill>
                  <a:srgbClr val="FFFFFF"/>
                </a:solidFill>
                <a:latin typeface="Arial"/>
              </a:rPr>
              <a:t>9.24 MB</a:t>
            </a:r>
          </a:p>
          <a:p>
            <a:pPr algn="ctr">
              <a:spcBef>
                <a:spcPts val="350"/>
              </a:spcBef>
            </a:pPr>
            <a:r>
              <a:rPr lang="en-US" sz="1400" b="0" dirty="0">
                <a:solidFill>
                  <a:srgbClr val="8A97A8"/>
                </a:solidFill>
                <a:latin typeface="Arial"/>
              </a:rPr>
              <a:t>2,423,242 total parameters</a:t>
            </a:r>
          </a:p>
        </p:txBody>
      </p:sp>
      <p:sp>
        <p:nvSpPr>
          <p:cNvPr id="41" name="Stat 2"/>
          <p:cNvSpPr/>
          <p:nvPr/>
        </p:nvSpPr>
        <p:spPr>
          <a:xfrm>
            <a:off x="5816600" y="4572000"/>
            <a:ext cx="4610100" cy="1905000"/>
          </a:xfrm>
          <a:prstGeom prst="roundRect">
            <a:avLst>
              <a:gd name="adj" fmla="val 9000"/>
            </a:avLst>
          </a:prstGeom>
          <a:solidFill>
            <a:srgbClr val="1A2433"/>
          </a:solidFill>
          <a:ln>
            <a:noFill/>
          </a:ln>
        </p:spPr>
        <p:txBody>
          <a:bodyPr wrap="square" lIns="100000" tIns="60000" rIns="10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spc="150" dirty="0">
                <a:solidFill>
                  <a:srgbClr val="F27B4D"/>
                </a:solidFill>
                <a:latin typeface="Arial"/>
              </a:rPr>
              <a:t>TRAINABLE</a:t>
            </a:r>
          </a:p>
          <a:p>
            <a:pPr algn="ctr">
              <a:spcBef>
                <a:spcPts val="350"/>
              </a:spcBef>
            </a:pPr>
            <a:r>
              <a:rPr lang="en-US" sz="3600" b="1" dirty="0">
                <a:solidFill>
                  <a:srgbClr val="FFFFFF"/>
                </a:solidFill>
                <a:latin typeface="Arial"/>
              </a:rPr>
              <a:t>165 K</a:t>
            </a:r>
          </a:p>
          <a:p>
            <a:pPr algn="ctr">
              <a:spcBef>
                <a:spcPts val="350"/>
              </a:spcBef>
            </a:pPr>
            <a:r>
              <a:rPr lang="en-US" sz="1400" b="0" dirty="0">
                <a:solidFill>
                  <a:srgbClr val="8A97A8"/>
                </a:solidFill>
                <a:latin typeface="Arial"/>
              </a:rPr>
              <a:t>just 6.8% — the classifier head</a:t>
            </a:r>
          </a:p>
        </p:txBody>
      </p:sp>
      <p:sp>
        <p:nvSpPr>
          <p:cNvPr id="42" name="Stat 3"/>
          <p:cNvSpPr/>
          <p:nvPr/>
        </p:nvSpPr>
        <p:spPr>
          <a:xfrm>
            <a:off x="10807700" y="4572000"/>
            <a:ext cx="4610100" cy="1905000"/>
          </a:xfrm>
          <a:prstGeom prst="roundRect">
            <a:avLst>
              <a:gd name="adj" fmla="val 9000"/>
            </a:avLst>
          </a:prstGeom>
          <a:solidFill>
            <a:srgbClr val="1A2433"/>
          </a:solidFill>
          <a:ln>
            <a:noFill/>
          </a:ln>
        </p:spPr>
        <p:txBody>
          <a:bodyPr wrap="square" lIns="100000" tIns="60000" rIns="100000" bIns="60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300" b="1" spc="150" dirty="0">
                <a:solidFill>
                  <a:srgbClr val="F27B4D"/>
                </a:solidFill>
                <a:latin typeface="Arial"/>
              </a:rPr>
              <a:t>FROZEN BACKBONE</a:t>
            </a:r>
          </a:p>
          <a:p>
            <a:pPr algn="ctr">
              <a:spcBef>
                <a:spcPts val="350"/>
              </a:spcBef>
            </a:pPr>
            <a:r>
              <a:rPr lang="en-US" sz="3600" b="1" dirty="0">
                <a:solidFill>
                  <a:srgbClr val="FFFFFF"/>
                </a:solidFill>
                <a:latin typeface="Arial"/>
              </a:rPr>
              <a:t>8.61 MB</a:t>
            </a:r>
          </a:p>
          <a:p>
            <a:pPr algn="ctr">
              <a:spcBef>
                <a:spcPts val="350"/>
              </a:spcBef>
            </a:pPr>
            <a:r>
              <a:rPr lang="en-US" sz="1400" b="0" dirty="0">
                <a:solidFill>
                  <a:srgbClr val="8A97A8"/>
                </a:solidFill>
                <a:latin typeface="Arial"/>
              </a:rPr>
              <a:t>2.26M pretrained ImageNet params</a:t>
            </a:r>
          </a:p>
        </p:txBody>
      </p:sp>
      <p:sp>
        <p:nvSpPr>
          <p:cNvPr id="50" name="Accent Bar"/>
          <p:cNvSpPr/>
          <p:nvPr/>
        </p:nvSpPr>
        <p:spPr>
          <a:xfrm>
            <a:off x="825500" y="6858000"/>
            <a:ext cx="76200" cy="1498600"/>
          </a:xfrm>
          <a:prstGeom prst="rect">
            <a:avLst/>
          </a:prstGeom>
          <a:solidFill>
            <a:srgbClr val="F27B4D"/>
          </a:solidFill>
          <a:ln>
            <a:noFill/>
          </a:ln>
        </p:spPr>
        <p:txBody>
          <a:bodyPr wrap="square" lIns="120000" tIns="60000" rIns="120000" bIns="60000" anchor="ctr">
            <a:normAutofit/>
          </a:bodyPr>
          <a:lstStyle/>
          <a:p>
            <a:endParaRPr lang="en-US"/>
          </a:p>
        </p:txBody>
      </p:sp>
      <p:sp>
        <p:nvSpPr>
          <p:cNvPr id="51" name="Takeaway"/>
          <p:cNvSpPr/>
          <p:nvPr/>
        </p:nvSpPr>
        <p:spPr>
          <a:xfrm>
            <a:off x="1143000" y="6807200"/>
            <a:ext cx="1428750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F27B4D"/>
                </a:solidFill>
                <a:latin typeface="Arial"/>
              </a:rPr>
              <a:t>WHY IT'S THE CHAMPION  </a:t>
            </a:r>
            <a:r>
              <a:rPr lang="en-US" sz="1600" b="0" dirty="0">
                <a:solidFill>
                  <a:srgbClr val="A9B4C2"/>
                </a:solidFill>
                <a:latin typeface="Arial"/>
              </a:rPr>
              <a:t>Freezing the pretrained backbone and training only a 165K-parameter head keeps the model ~9 MB and quick to train —</a:t>
            </a:r>
          </a:p>
          <a:p>
            <a:pPr algn="l">
              <a:spcBef>
                <a:spcPts val="200"/>
              </a:spcBef>
            </a:pPr>
            <a:r>
              <a:rPr lang="en-US" sz="1600" b="0" dirty="0">
                <a:solidFill>
                  <a:srgbClr val="A9B4C2"/>
                </a:solidFill>
                <a:latin typeface="Arial"/>
              </a:rPr>
              <a:t>accurate yet light enough for on-device, offline deployment in the field.</a:t>
            </a:r>
          </a:p>
        </p:txBody>
      </p:sp>
    </p:spTree>
    <p:extLst>
      <p:ext uri="{BB962C8B-B14F-4D97-AF65-F5344CB8AC3E}">
        <p14:creationId xmlns:p14="http://schemas.microsoft.com/office/powerpoint/2010/main" val="3182445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Safety First: Per-Class Recall and Venomous</a:t>
            </a:r>
          </a:p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Profiling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14612112" cy="6217920"/>
          </a:xfrm>
          <a:prstGeom prst="roundRect">
            <a:avLst>
              <a:gd name="adj" fmla="val 25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4612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A9B4C2"/>
                </a:solidFill>
                <a:latin typeface="Arial"/>
              </a:rPr>
              <a:t>Per-Class Recall Score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017520"/>
          <a:ext cx="941832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456160" y="3226713"/>
            <a:ext cx="233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F27B4D"/>
                </a:solidFill>
                <a:latin typeface="Arial"/>
              </a:rPr>
              <a:t>■ </a:t>
            </a:r>
            <a:r>
              <a:rPr sz="1600" b="0" i="0" dirty="0">
                <a:solidFill>
                  <a:srgbClr val="A9B4C2"/>
                </a:solidFill>
                <a:latin typeface="Arial"/>
              </a:rPr>
              <a:t>Venomous    </a:t>
            </a:r>
            <a:endParaRPr lang="en-US" sz="1600" b="0" i="0" dirty="0">
              <a:solidFill>
                <a:srgbClr val="A9B4C2"/>
              </a:solidFill>
              <a:latin typeface="Arial"/>
            </a:endParaRPr>
          </a:p>
          <a:p>
            <a:r>
              <a:rPr sz="1600" b="0" i="0" dirty="0">
                <a:solidFill>
                  <a:srgbClr val="2E84A6"/>
                </a:solidFill>
                <a:latin typeface="Arial"/>
              </a:rPr>
              <a:t>■ </a:t>
            </a:r>
            <a:r>
              <a:rPr sz="1600" b="0" i="0" dirty="0">
                <a:solidFill>
                  <a:srgbClr val="A9B4C2"/>
                </a:solidFill>
                <a:latin typeface="Arial"/>
              </a:rPr>
              <a:t>Non-venomous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5486400"/>
            <a:ext cx="4572000" cy="2788920"/>
          </a:xfrm>
          <a:prstGeom prst="roundRect">
            <a:avLst>
              <a:gd name="adj" fmla="val 5000"/>
            </a:avLst>
          </a:prstGeom>
          <a:solidFill>
            <a:srgbClr val="2E3846"/>
          </a:solidFill>
          <a:ln w="19050">
            <a:solidFill>
              <a:srgbClr val="F27B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19" y="5760720"/>
            <a:ext cx="393192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Crucial Safety Metric</a:t>
            </a:r>
            <a:r>
              <a:rPr sz="1600" b="0" i="0" dirty="0">
                <a:solidFill>
                  <a:srgbClr val="A9B4C2"/>
                </a:solidFill>
                <a:latin typeface="Arial"/>
              </a:rPr>
              <a:t>: The model achieves peak</a:t>
            </a:r>
          </a:p>
          <a:p>
            <a:pPr algn="l">
              <a:lnSpc>
                <a:spcPct val="112000"/>
              </a:lnSpc>
            </a:pPr>
            <a:r>
              <a:rPr sz="1600" b="0" i="0" dirty="0">
                <a:solidFill>
                  <a:srgbClr val="A9B4C2"/>
                </a:solidFill>
                <a:latin typeface="Arial"/>
              </a:rPr>
              <a:t>recall (97%) on the highly venomous </a:t>
            </a:r>
            <a:r>
              <a:rPr sz="1600" b="0" i="1" dirty="0">
                <a:solidFill>
                  <a:srgbClr val="A9B4C2"/>
                </a:solidFill>
                <a:latin typeface="Arial"/>
              </a:rPr>
              <a:t>Crotalus</a:t>
            </a:r>
          </a:p>
          <a:p>
            <a:pPr algn="l">
              <a:lnSpc>
                <a:spcPct val="112000"/>
              </a:lnSpc>
            </a:pPr>
            <a:r>
              <a:rPr sz="1600" b="0" i="1" dirty="0">
                <a:solidFill>
                  <a:srgbClr val="A9B4C2"/>
                </a:solidFill>
                <a:latin typeface="Arial"/>
              </a:rPr>
              <a:t>tigris</a:t>
            </a:r>
            <a:r>
              <a:rPr sz="1600" b="0" i="0" dirty="0">
                <a:solidFill>
                  <a:srgbClr val="A9B4C2"/>
                </a:solidFill>
                <a:latin typeface="Arial"/>
              </a:rPr>
              <a:t>, ensuring life-threatening cases are rarely</a:t>
            </a:r>
          </a:p>
          <a:p>
            <a:pPr algn="l">
              <a:lnSpc>
                <a:spcPct val="112000"/>
              </a:lnSpc>
            </a:pPr>
            <a:r>
              <a:rPr sz="1600" b="0" i="0" dirty="0">
                <a:solidFill>
                  <a:srgbClr val="A9B4C2"/>
                </a:solidFill>
                <a:latin typeface="Arial"/>
              </a:rPr>
              <a:t>missed, even while harmless species like</a:t>
            </a:r>
          </a:p>
          <a:p>
            <a:pPr algn="l">
              <a:lnSpc>
                <a:spcPct val="112000"/>
              </a:lnSpc>
            </a:pPr>
            <a:r>
              <a:rPr sz="1600" b="0" i="1" dirty="0">
                <a:solidFill>
                  <a:srgbClr val="A9B4C2"/>
                </a:solidFill>
                <a:latin typeface="Arial"/>
              </a:rPr>
              <a:t>Ahaetulla prasina</a:t>
            </a:r>
            <a:r>
              <a:rPr sz="1600" b="0" i="0" dirty="0">
                <a:solidFill>
                  <a:srgbClr val="A9B4C2"/>
                </a:solidFill>
                <a:latin typeface="Arial"/>
              </a:rPr>
              <a:t> remain challenging.</a:t>
            </a:r>
          </a:p>
        </p:txBody>
      </p:sp>
    </p:spTree>
    <p:extLst>
      <p:ext uri="{BB962C8B-B14F-4D97-AF65-F5344CB8AC3E}">
        <p14:creationId xmlns:p14="http://schemas.microsoft.com/office/powerpoint/2010/main" val="2879421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Clinical Explainability: Unlocking the 'Black Box'</a:t>
            </a:r>
          </a:p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with Grad-CAM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40280"/>
            <a:ext cx="4736592" cy="2697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2386584"/>
            <a:ext cx="4370831" cy="50292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43708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  <a:latin typeface="Arial"/>
              </a:rPr>
              <a:t>Crotalus tigris (93%)</a:t>
            </a:r>
          </a:p>
        </p:txBody>
      </p:sp>
      <p:pic>
        <p:nvPicPr>
          <p:cNvPr id="6" name="Picture 5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3017520"/>
            <a:ext cx="1691640" cy="1691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0" y="2240280"/>
            <a:ext cx="4736592" cy="2697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0" y="2386584"/>
            <a:ext cx="4370831" cy="50292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2423160"/>
            <a:ext cx="43708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Carphophis vermis (92%)</a:t>
            </a:r>
          </a:p>
        </p:txBody>
      </p:sp>
      <p:pic>
        <p:nvPicPr>
          <p:cNvPr id="10" name="Picture 9" descr="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6" y="3017520"/>
            <a:ext cx="1691640" cy="1691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698480" y="2240280"/>
            <a:ext cx="4736592" cy="2697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881359" y="2386584"/>
            <a:ext cx="4370831" cy="50292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59" y="2423160"/>
            <a:ext cx="43708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Bothrops asper (76%)</a:t>
            </a:r>
          </a:p>
        </p:txBody>
      </p:sp>
      <p:pic>
        <p:nvPicPr>
          <p:cNvPr id="14" name="Picture 13" descr="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955" y="3017520"/>
            <a:ext cx="1691640" cy="1691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22960" y="5120640"/>
            <a:ext cx="4736592" cy="2697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" y="5266944"/>
            <a:ext cx="4370831" cy="50292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43708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Austrelaps superbus (82%)</a:t>
            </a:r>
          </a:p>
        </p:txBody>
      </p:sp>
      <p:pic>
        <p:nvPicPr>
          <p:cNvPr id="18" name="Picture 17" descr="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5436" y="5897880"/>
            <a:ext cx="1691640" cy="16916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760720" y="5120640"/>
            <a:ext cx="4736592" cy="2697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0" y="5266944"/>
            <a:ext cx="4370831" cy="50292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5303520"/>
            <a:ext cx="43708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Bothriechis schlegelii (81%)</a:t>
            </a:r>
          </a:p>
        </p:txBody>
      </p:sp>
      <p:pic>
        <p:nvPicPr>
          <p:cNvPr id="22" name="Picture 21" descr="g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196" y="5897880"/>
            <a:ext cx="1691640" cy="16916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698480" y="5120640"/>
            <a:ext cx="4736592" cy="269748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881359" y="5266944"/>
            <a:ext cx="4370831" cy="50292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59" y="5303520"/>
            <a:ext cx="43708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Boiga kraepelini (68%)</a:t>
            </a:r>
          </a:p>
        </p:txBody>
      </p:sp>
      <p:pic>
        <p:nvPicPr>
          <p:cNvPr id="26" name="Picture 25" descr="g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0955" y="5897880"/>
            <a:ext cx="1691640" cy="169164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22960" y="7863840"/>
            <a:ext cx="14612112" cy="960120"/>
          </a:xfrm>
          <a:prstGeom prst="roundRect">
            <a:avLst>
              <a:gd name="adj" fmla="val 6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7955279"/>
            <a:ext cx="1408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 dirty="0">
                <a:solidFill>
                  <a:srgbClr val="A9B4C2"/>
                </a:solidFill>
                <a:latin typeface="Arial"/>
              </a:rPr>
              <a:t>Attention maps confirm the model's clinical viability. Predictions are driven by relevant anatomical features (cranial</a:t>
            </a:r>
          </a:p>
          <a:p>
            <a:pPr algn="ctr">
              <a:lnSpc>
                <a:spcPct val="105000"/>
              </a:lnSpc>
            </a:pPr>
            <a:r>
              <a:rPr sz="1600" b="0" i="0" dirty="0">
                <a:solidFill>
                  <a:srgbClr val="A9B4C2"/>
                </a:solidFill>
                <a:latin typeface="Arial"/>
              </a:rPr>
              <a:t>shapes, specific scale patterns, body morphology) rather than spurious background artifacts like leaves or rocks.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Real-World Impact: From Algorithm to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Emergency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91840"/>
            <a:ext cx="4736592" cy="457200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368296" y="2468880"/>
            <a:ext cx="1645920" cy="1645920"/>
          </a:xfrm>
          <a:prstGeom prst="ellipse">
            <a:avLst/>
          </a:prstGeom>
          <a:solidFill>
            <a:srgbClr val="2E3846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68296" y="2468880"/>
            <a:ext cx="164592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434840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Emergency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400507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Reduces species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identification in rural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clinics from hours of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manual searching to mere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5584" y="3291840"/>
            <a:ext cx="4736592" cy="457200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60919" y="2468880"/>
            <a:ext cx="1645920" cy="1645920"/>
          </a:xfrm>
          <a:prstGeom prst="ellipse">
            <a:avLst/>
          </a:prstGeom>
          <a:solidFill>
            <a:srgbClr val="2E3846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19" y="2468880"/>
            <a:ext cx="164592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27B4D"/>
                </a:solidFill>
                <a:latin typeface="Arial"/>
              </a:rPr>
              <a:t>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4434840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Life-Saving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5120640"/>
            <a:ext cx="400507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Enables immediate,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accurate antivenom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selection, dramatically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improving the odds of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survival within the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Golden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08208" y="3291840"/>
            <a:ext cx="4736592" cy="4572000"/>
          </a:xfrm>
          <a:prstGeom prst="roundRect">
            <a:avLst>
              <a:gd name="adj" fmla="val 4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353544" y="2468880"/>
            <a:ext cx="1645920" cy="1645920"/>
          </a:xfrm>
          <a:prstGeom prst="ellipse">
            <a:avLst/>
          </a:prstGeom>
          <a:solidFill>
            <a:srgbClr val="2E3846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53544" y="2468880"/>
            <a:ext cx="164592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5B8FC7"/>
                </a:solidFill>
                <a:latin typeface="Arial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3968" y="4434840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Scalable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5120640"/>
            <a:ext cx="400507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Optimised for mobile apps,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telemedicine platforms,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and offline field-based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wildlife management tools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in remote regions.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Current Limitations and Clinical Boundaries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7187184" cy="26974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834640"/>
            <a:ext cx="62727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Subset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11880"/>
            <a:ext cx="62727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The model was trained on 2,006 images (top 10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species) out of the full 23,816. Expanding to all 135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species requires exponentially more compute.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4736" y="2468880"/>
            <a:ext cx="7187184" cy="26974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31936" y="2834640"/>
            <a:ext cx="62727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Image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1936" y="3611880"/>
            <a:ext cx="62727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Field photos suffer from poor lighting, motion blur,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and occlusion. Real-world robustness is highly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dependent on input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94960"/>
            <a:ext cx="7187184" cy="26974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5760720"/>
            <a:ext cx="62727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Class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6537960"/>
            <a:ext cx="62727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Certain morphological overlaps cause severe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misclassification risks for specific species (e.g.,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Ahaetulla prasina).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5394960"/>
            <a:ext cx="7187184" cy="2697480"/>
          </a:xfrm>
          <a:prstGeom prst="roundRect">
            <a:avLst>
              <a:gd name="adj" fmla="val 5000"/>
            </a:avLst>
          </a:prstGeom>
          <a:solidFill>
            <a:srgbClr val="242D3A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6" y="5760720"/>
            <a:ext cx="62727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Pre-Clinical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6537960"/>
            <a:ext cx="627278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The algorithm requires rigorous, formal testing with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medical professionals and toxicologists before live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8A97A8"/>
                </a:solidFill>
                <a:latin typeface="Arial"/>
              </a:rPr>
              <a:t>clinical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587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4000" b="1" i="0" dirty="0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77440"/>
            <a:ext cx="3200400" cy="5212080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0" y="2377440"/>
            <a:ext cx="3200400" cy="109728"/>
          </a:xfrm>
          <a:prstGeom prst="rect">
            <a:avLst/>
          </a:prstGeom>
          <a:solidFill>
            <a:srgbClr val="5B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274320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Accuracy</a:t>
            </a:r>
          </a:p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(71.1%)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977639"/>
            <a:ext cx="2651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Transfer learning</a:t>
            </a:r>
          </a:p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decisively turns a</a:t>
            </a:r>
          </a:p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notoriously difficult</a:t>
            </a:r>
          </a:p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135-species problem</a:t>
            </a:r>
          </a:p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into a tractable</a:t>
            </a:r>
          </a:p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mathematical</a:t>
            </a:r>
          </a:p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8A97A8"/>
                </a:solidFill>
                <a:latin typeface="Arial"/>
              </a:rPr>
              <a:t>classifier.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377440"/>
            <a:ext cx="3200400" cy="5212080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2377440"/>
            <a:ext cx="3200400" cy="109728"/>
          </a:xfrm>
          <a:prstGeom prst="rect">
            <a:avLst/>
          </a:prstGeom>
          <a:solidFill>
            <a:srgbClr val="F27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Venomous</a:t>
            </a:r>
          </a:p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Recall (97%)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977639"/>
            <a:ext cx="2651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The system inherently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protects patients by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heavily indexing on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the highest-risk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species like </a:t>
            </a:r>
          </a:p>
          <a:p>
            <a:pPr algn="ctr">
              <a:lnSpc>
                <a:spcPct val="118000"/>
              </a:lnSpc>
            </a:pPr>
            <a:r>
              <a:rPr sz="1600" b="0" i="1" dirty="0">
                <a:solidFill>
                  <a:srgbClr val="8A97A8"/>
                </a:solidFill>
                <a:latin typeface="Arial"/>
              </a:rPr>
              <a:t>Crotalus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tigris.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2377440"/>
            <a:ext cx="3200400" cy="5212080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66960" y="2377440"/>
            <a:ext cx="3200400" cy="109728"/>
          </a:xfrm>
          <a:prstGeom prst="rect">
            <a:avLst/>
          </a:prstGeom>
          <a:solidFill>
            <a:srgbClr val="5B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87000" y="274320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Grad-CAM</a:t>
            </a:r>
          </a:p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977639"/>
            <a:ext cx="2651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Anatomical feature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mapping proves the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model acts as an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explainable medical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assistant, not a</a:t>
            </a:r>
          </a:p>
          <a:p>
            <a:pPr algn="ctr">
              <a:lnSpc>
                <a:spcPct val="118000"/>
              </a:lnSpc>
            </a:pPr>
            <a:r>
              <a:rPr sz="1600" b="0" i="0" dirty="0">
                <a:solidFill>
                  <a:srgbClr val="8A97A8"/>
                </a:solidFill>
                <a:latin typeface="Arial"/>
              </a:rPr>
              <a:t>blind algorithm.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7772400"/>
            <a:ext cx="14612112" cy="1051560"/>
          </a:xfrm>
          <a:prstGeom prst="roundRect">
            <a:avLst>
              <a:gd name="adj" fmla="val 5000"/>
            </a:avLst>
          </a:prstGeom>
          <a:solidFill>
            <a:srgbClr val="2E3846"/>
          </a:solidFill>
          <a:ln w="12700">
            <a:solidFill>
              <a:srgbClr val="3A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7863840"/>
            <a:ext cx="13898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Conclusion: </a:t>
            </a:r>
            <a:r>
              <a:rPr sz="1900" b="0" i="0">
                <a:solidFill>
                  <a:srgbClr val="A9B4C2"/>
                </a:solidFill>
                <a:latin typeface="Arial"/>
              </a:rPr>
              <a:t>By pairing MobileNetV2 with explainable AI, we have engineered a system that is effective, transparent,</a:t>
            </a:r>
          </a:p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A9B4C2"/>
                </a:solidFill>
                <a:latin typeface="Arial"/>
              </a:rPr>
              <a:t>and structurally sound. It provides a definitive foundation for clinical tools capable of saving thousands of lives.</a:t>
            </a:r>
          </a:p>
        </p:txBody>
      </p:sp>
    </p:spTree>
    <p:extLst>
      <p:ext uri="{BB962C8B-B14F-4D97-AF65-F5344CB8AC3E}">
        <p14:creationId xmlns:p14="http://schemas.microsoft.com/office/powerpoint/2010/main" val="3663741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IN" sz="4000" b="1" i="0">
                <a:solidFill>
                  <a:srgbClr val="FFFFFF"/>
                </a:solidFill>
                <a:latin typeface="Arial"/>
              </a:rPr>
              <a:t>Future Work &amp; Roadmap</a:t>
            </a:r>
            <a:endParaRPr sz="40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0C2DC7-7C17-A344-ABF9-0C01F9441F44}"/>
              </a:ext>
            </a:extLst>
          </p:cNvPr>
          <p:cNvSpPr/>
          <p:nvPr/>
        </p:nvSpPr>
        <p:spPr>
          <a:xfrm>
            <a:off x="825500" y="2387600"/>
            <a:ext cx="14605000" cy="10922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F749C5-20A9-EC41-BFE1-5760E5BB088F}"/>
              </a:ext>
            </a:extLst>
          </p:cNvPr>
          <p:cNvSpPr/>
          <p:nvPr/>
        </p:nvSpPr>
        <p:spPr>
          <a:xfrm>
            <a:off x="1104900" y="2603500"/>
            <a:ext cx="660400" cy="660400"/>
          </a:xfrm>
          <a:prstGeom prst="ellipse">
            <a:avLst/>
          </a:prstGeom>
          <a:solidFill>
            <a:srgbClr val="F27B4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C5308-1168-F840-8871-2F615CB1F3FA}"/>
              </a:ext>
            </a:extLst>
          </p:cNvPr>
          <p:cNvSpPr txBox="1"/>
          <p:nvPr/>
        </p:nvSpPr>
        <p:spPr>
          <a:xfrm>
            <a:off x="2222500" y="2578100"/>
            <a:ext cx="1270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Mobile &amp; Edge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C5402-AAF8-D24A-A3CF-1F166722C358}"/>
              </a:ext>
            </a:extLst>
          </p:cNvPr>
          <p:cNvSpPr txBox="1"/>
          <p:nvPr/>
        </p:nvSpPr>
        <p:spPr>
          <a:xfrm>
            <a:off x="2222500" y="2971800"/>
            <a:ext cx="1282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A97A8"/>
                </a:solidFill>
                <a:latin typeface="Arial"/>
                <a:cs typeface="Arial"/>
              </a:rPr>
              <a:t>Convert to TensorFlow Lite for fast, offline on-device inference in disconnected rural settings.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3D5BCE-3057-7845-8899-55888B92D27D}"/>
              </a:ext>
            </a:extLst>
          </p:cNvPr>
          <p:cNvSpPr/>
          <p:nvPr/>
        </p:nvSpPr>
        <p:spPr>
          <a:xfrm>
            <a:off x="825500" y="3657600"/>
            <a:ext cx="14605000" cy="10922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D2B567-146E-3644-B5EC-2245FB3FA6B3}"/>
              </a:ext>
            </a:extLst>
          </p:cNvPr>
          <p:cNvSpPr/>
          <p:nvPr/>
        </p:nvSpPr>
        <p:spPr>
          <a:xfrm>
            <a:off x="1104900" y="3873500"/>
            <a:ext cx="660400" cy="660400"/>
          </a:xfrm>
          <a:prstGeom prst="ellipse">
            <a:avLst/>
          </a:prstGeom>
          <a:solidFill>
            <a:srgbClr val="F27B4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79E67-9D91-E045-8210-A0500F175B5A}"/>
              </a:ext>
            </a:extLst>
          </p:cNvPr>
          <p:cNvSpPr txBox="1"/>
          <p:nvPr/>
        </p:nvSpPr>
        <p:spPr>
          <a:xfrm>
            <a:off x="2222500" y="3848100"/>
            <a:ext cx="1270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Fine-Tune &amp; Ensemble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07696-804C-7E4E-8DEF-A11C5ACAF0AF}"/>
              </a:ext>
            </a:extLst>
          </p:cNvPr>
          <p:cNvSpPr txBox="1"/>
          <p:nvPr/>
        </p:nvSpPr>
        <p:spPr>
          <a:xfrm>
            <a:off x="2222500" y="4241800"/>
            <a:ext cx="1282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A97A8"/>
                </a:solidFill>
                <a:latin typeface="Arial"/>
                <a:cs typeface="Arial"/>
              </a:rPr>
              <a:t>Unfreeze MobileNetV2's top layers and explore ViT / EfficientNet ensembles for further accuracy.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7728BF-60EB-2946-9F97-C51F81431961}"/>
              </a:ext>
            </a:extLst>
          </p:cNvPr>
          <p:cNvSpPr/>
          <p:nvPr/>
        </p:nvSpPr>
        <p:spPr>
          <a:xfrm>
            <a:off x="825500" y="4927600"/>
            <a:ext cx="14605000" cy="10922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61B7BA-B6E2-8047-8FF9-20B0A3842906}"/>
              </a:ext>
            </a:extLst>
          </p:cNvPr>
          <p:cNvSpPr/>
          <p:nvPr/>
        </p:nvSpPr>
        <p:spPr>
          <a:xfrm>
            <a:off x="1104900" y="5143500"/>
            <a:ext cx="660400" cy="660400"/>
          </a:xfrm>
          <a:prstGeom prst="ellipse">
            <a:avLst/>
          </a:prstGeom>
          <a:solidFill>
            <a:srgbClr val="F27B4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DDF35-2D0B-8442-A5DD-430BA20A25CC}"/>
              </a:ext>
            </a:extLst>
          </p:cNvPr>
          <p:cNvSpPr txBox="1"/>
          <p:nvPr/>
        </p:nvSpPr>
        <p:spPr>
          <a:xfrm>
            <a:off x="2222500" y="5118100"/>
            <a:ext cx="1270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Broader, Region-Specific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8C8BD-C145-D34A-A8CE-BDD9DA27F3BB}"/>
              </a:ext>
            </a:extLst>
          </p:cNvPr>
          <p:cNvSpPr txBox="1"/>
          <p:nvPr/>
        </p:nvSpPr>
        <p:spPr>
          <a:xfrm>
            <a:off x="2222500" y="5511800"/>
            <a:ext cx="1282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A97A8"/>
                </a:solidFill>
                <a:latin typeface="Arial"/>
                <a:cs typeface="Arial"/>
              </a:rPr>
              <a:t>Scale to 10,000+ images across 50+ species and train region-specific models for local accuracy.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868A552-BCBD-884C-809F-559747132865}"/>
              </a:ext>
            </a:extLst>
          </p:cNvPr>
          <p:cNvSpPr/>
          <p:nvPr/>
        </p:nvSpPr>
        <p:spPr>
          <a:xfrm>
            <a:off x="825500" y="6197600"/>
            <a:ext cx="14605000" cy="10922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A49C11-DF6A-B84A-90D8-1FDEE5C25D5C}"/>
              </a:ext>
            </a:extLst>
          </p:cNvPr>
          <p:cNvSpPr/>
          <p:nvPr/>
        </p:nvSpPr>
        <p:spPr>
          <a:xfrm>
            <a:off x="1104900" y="6413500"/>
            <a:ext cx="660400" cy="660400"/>
          </a:xfrm>
          <a:prstGeom prst="ellipse">
            <a:avLst/>
          </a:prstGeom>
          <a:solidFill>
            <a:srgbClr val="F27B4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7A0565-7E5E-E64F-B0CB-D22AC5976979}"/>
              </a:ext>
            </a:extLst>
          </p:cNvPr>
          <p:cNvSpPr txBox="1"/>
          <p:nvPr/>
        </p:nvSpPr>
        <p:spPr>
          <a:xfrm>
            <a:off x="2222500" y="6388100"/>
            <a:ext cx="1270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Multi-Modal &amp; GPS Context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7B3570-2DD8-2F44-97D8-E26A8FAD5A77}"/>
              </a:ext>
            </a:extLst>
          </p:cNvPr>
          <p:cNvSpPr txBox="1"/>
          <p:nvPr/>
        </p:nvSpPr>
        <p:spPr>
          <a:xfrm>
            <a:off x="2222500" y="6781800"/>
            <a:ext cx="1282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A97A8"/>
                </a:solidFill>
                <a:latin typeface="Arial"/>
                <a:cs typeface="Arial"/>
              </a:rPr>
              <a:t>Add audio, thermal and location signals to narrow likely species and raise confidence.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FEDEDA1-A06E-3F44-A560-58FF061155DC}"/>
              </a:ext>
            </a:extLst>
          </p:cNvPr>
          <p:cNvSpPr/>
          <p:nvPr/>
        </p:nvSpPr>
        <p:spPr>
          <a:xfrm>
            <a:off x="825500" y="7467600"/>
            <a:ext cx="14605000" cy="1092200"/>
          </a:xfrm>
          <a:prstGeom prst="roundRect">
            <a:avLst/>
          </a:prstGeom>
          <a:solidFill>
            <a:srgbClr val="1A243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1ADD53D-CCFC-2E4F-9F2E-2064B9DECB83}"/>
              </a:ext>
            </a:extLst>
          </p:cNvPr>
          <p:cNvSpPr/>
          <p:nvPr/>
        </p:nvSpPr>
        <p:spPr>
          <a:xfrm>
            <a:off x="1104900" y="7683500"/>
            <a:ext cx="660400" cy="660400"/>
          </a:xfrm>
          <a:prstGeom prst="ellipse">
            <a:avLst/>
          </a:prstGeom>
          <a:solidFill>
            <a:srgbClr val="F27B4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751E97-4377-964C-BE9F-7822DE7C8C92}"/>
              </a:ext>
            </a:extLst>
          </p:cNvPr>
          <p:cNvSpPr txBox="1"/>
          <p:nvPr/>
        </p:nvSpPr>
        <p:spPr>
          <a:xfrm>
            <a:off x="2222500" y="7658100"/>
            <a:ext cx="1270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Antivenom Inventory Integration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6E307E-7D64-2741-9D8E-DCA134AEF97F}"/>
              </a:ext>
            </a:extLst>
          </p:cNvPr>
          <p:cNvSpPr txBox="1"/>
          <p:nvPr/>
        </p:nvSpPr>
        <p:spPr>
          <a:xfrm>
            <a:off x="2222500" y="8051800"/>
            <a:ext cx="1282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A97A8"/>
                </a:solidFill>
                <a:latin typeface="Arial"/>
                <a:cs typeface="Arial"/>
              </a:rPr>
              <a:t>Link predictions to hospital antivenom stock for end-to-end 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307041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2801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IN" sz="4000" b="1" i="0">
                <a:solidFill>
                  <a:srgbClr val="FFFFFF"/>
                </a:solidFill>
                <a:latin typeface="Arial"/>
              </a:rPr>
              <a:t>References</a:t>
            </a:r>
            <a:endParaRPr sz="40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F8B59-0BA3-BA4E-9307-3C7F27923414}"/>
              </a:ext>
            </a:extLst>
          </p:cNvPr>
          <p:cNvSpPr txBox="1"/>
          <p:nvPr/>
        </p:nvSpPr>
        <p:spPr>
          <a:xfrm>
            <a:off x="1016000" y="2489200"/>
            <a:ext cx="14224000" cy="29470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[1]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Project source code. GitHub. </a:t>
            </a:r>
            <a:r>
              <a:rPr lang="en-US" sz="1700" dirty="0">
                <a:solidFill>
                  <a:srgbClr val="C7D0DB"/>
                </a:solidFill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github.com/shubham1697/snake-species-antivenom</a:t>
            </a:r>
            <a:endParaRPr lang="en-US" sz="1700" dirty="0">
              <a:solidFill>
                <a:srgbClr val="C7D0DB"/>
              </a:solidFill>
              <a:latin typeface="Arial"/>
            </a:endParaRPr>
          </a:p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[2]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Goel, Y. 165 Different Snakes Species [Dataset]. Kaggle. kaggle.com/datasets/goelyash/165-different-snakes-species</a:t>
            </a:r>
          </a:p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[3]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Sandler, M., Howard, A., Zhu, M., Zhmoginov, A., &amp; Chen, L.-C. (2018). MobileNetV2: Inverted Residuals and Linear Bottlenecks. CVPR.</a:t>
            </a:r>
          </a:p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[4]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Selvaraju, R. R., Cogswell, M., Das, A., Vedantam, R., Parikh, D., &amp; Batra, D. (2017). Grad-CAM: Visual Explanations from Deep Networks via Gradient-based Localization. ICCV.</a:t>
            </a:r>
          </a:p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[5]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Deng, J., Dong, W., Socher, R., Li, L.-J., Li, K., &amp; Fei-Fei, L. (2009). ImageNet: A Large-Scale Hierarchical Image Database. CVPR.</a:t>
            </a:r>
          </a:p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[6]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Frameworks: TensorFlow / Keras (Chollet et al., 2015) and scikit-learn (Pedregosa et al., 2011, JMLR).</a:t>
            </a:r>
          </a:p>
          <a:p>
            <a:pPr marL="457200" indent="-45720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7B4D"/>
                </a:solidFill>
                <a:latin typeface="Arial"/>
              </a:rPr>
              <a:t>[7]	</a:t>
            </a:r>
            <a:r>
              <a:rPr lang="en-US" sz="1700" dirty="0">
                <a:solidFill>
                  <a:srgbClr val="C7D0DB"/>
                </a:solidFill>
                <a:latin typeface="Arial"/>
              </a:rPr>
              <a:t>World Health Organization. Snakebite Envenoming — Fact Sheet. who.int</a:t>
            </a:r>
          </a:p>
        </p:txBody>
      </p:sp>
    </p:spTree>
    <p:extLst>
      <p:ext uri="{BB962C8B-B14F-4D97-AF65-F5344CB8AC3E}">
        <p14:creationId xmlns:p14="http://schemas.microsoft.com/office/powerpoint/2010/main" val="1891582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3017520"/>
            <a:ext cx="135148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Arial"/>
              </a:rP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0" y="4572000"/>
            <a:ext cx="12234672" cy="22860"/>
          </a:xfrm>
          <a:prstGeom prst="rect">
            <a:avLst/>
          </a:prstGeom>
          <a:solidFill>
            <a:srgbClr val="5B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1351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i="0">
                <a:solidFill>
                  <a:srgbClr val="A9B4C2"/>
                </a:solidFill>
                <a:latin typeface="Arial"/>
              </a:rPr>
              <a:t>Thank you for your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B7E18E6-7D30-4048-BCCF-8EE3759F229C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b9c6356d-1759-40c9-8c07-61dfd04bfa7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AF054A8-377C-D84E-B46A-E1301D6D32A8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69654123-8b97-48e0-a044-2d0c57cca2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1842</Words>
  <Application>Microsoft Macintosh PowerPoint</Application>
  <PresentationFormat>Custom</PresentationFormat>
  <Paragraphs>475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Sharma</cp:lastModifiedBy>
  <cp:revision>11</cp:revision>
  <dcterms:created xsi:type="dcterms:W3CDTF">2013-01-27T09:14:16Z</dcterms:created>
  <dcterms:modified xsi:type="dcterms:W3CDTF">2026-06-15T04:02:56Z</dcterms:modified>
  <cp:category/>
</cp:coreProperties>
</file>